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41"/>
  </p:notesMasterIdLst>
  <p:sldIdLst>
    <p:sldId id="295" r:id="rId2"/>
    <p:sldId id="350" r:id="rId3"/>
    <p:sldId id="298" r:id="rId4"/>
    <p:sldId id="299" r:id="rId5"/>
    <p:sldId id="300" r:id="rId6"/>
    <p:sldId id="267" r:id="rId7"/>
    <p:sldId id="270" r:id="rId8"/>
    <p:sldId id="323" r:id="rId9"/>
    <p:sldId id="324" r:id="rId10"/>
    <p:sldId id="304" r:id="rId11"/>
    <p:sldId id="305" r:id="rId12"/>
    <p:sldId id="306" r:id="rId13"/>
    <p:sldId id="273" r:id="rId14"/>
    <p:sldId id="326" r:id="rId15"/>
    <p:sldId id="325" r:id="rId16"/>
    <p:sldId id="328" r:id="rId17"/>
    <p:sldId id="339" r:id="rId18"/>
    <p:sldId id="340" r:id="rId19"/>
    <p:sldId id="327" r:id="rId20"/>
    <p:sldId id="272" r:id="rId21"/>
    <p:sldId id="329" r:id="rId22"/>
    <p:sldId id="331" r:id="rId23"/>
    <p:sldId id="332" r:id="rId24"/>
    <p:sldId id="330" r:id="rId25"/>
    <p:sldId id="333" r:id="rId26"/>
    <p:sldId id="334" r:id="rId27"/>
    <p:sldId id="335" r:id="rId28"/>
    <p:sldId id="336" r:id="rId29"/>
    <p:sldId id="337" r:id="rId30"/>
    <p:sldId id="338" r:id="rId31"/>
    <p:sldId id="341" r:id="rId32"/>
    <p:sldId id="342" r:id="rId33"/>
    <p:sldId id="343" r:id="rId34"/>
    <p:sldId id="344" r:id="rId35"/>
    <p:sldId id="345" r:id="rId36"/>
    <p:sldId id="348" r:id="rId37"/>
    <p:sldId id="349" r:id="rId38"/>
    <p:sldId id="346" r:id="rId39"/>
    <p:sldId id="347"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5" autoAdjust="0"/>
    <p:restoredTop sz="94660"/>
  </p:normalViewPr>
  <p:slideViewPr>
    <p:cSldViewPr snapToGrid="0" snapToObjects="1">
      <p:cViewPr varScale="1">
        <p:scale>
          <a:sx n="68" d="100"/>
          <a:sy n="68" d="100"/>
        </p:scale>
        <p:origin x="1188"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D85622-C76B-4CC9-9F58-D6C7043BDB18}" type="doc">
      <dgm:prSet loTypeId="urn:microsoft.com/office/officeart/2005/8/layout/vList2" loCatId="list" qsTypeId="urn:microsoft.com/office/officeart/2005/8/quickstyle/simple1" qsCatId="simple" csTypeId="urn:microsoft.com/office/officeart/2005/8/colors/accent1_4" csCatId="accent1" phldr="1"/>
      <dgm:spPr/>
      <dgm:t>
        <a:bodyPr/>
        <a:lstStyle/>
        <a:p>
          <a:endParaRPr lang="en-US"/>
        </a:p>
      </dgm:t>
    </dgm:pt>
    <dgm:pt modelId="{F0E9D3FF-9F51-4106-888D-8645B8A536B8}">
      <dgm:prSet/>
      <dgm:spPr/>
      <dgm:t>
        <a:bodyPr/>
        <a:lstStyle/>
        <a:p>
          <a:pPr algn="ctr"/>
          <a:r>
            <a:rPr lang="en-US" dirty="0" err="1"/>
            <a:t>Perenc</a:t>
          </a:r>
          <a:r>
            <a:rPr lang="nb-NO" dirty="0"/>
            <a:t>anaan</a:t>
          </a:r>
        </a:p>
      </dgm:t>
    </dgm:pt>
    <dgm:pt modelId="{7E804A7A-A096-451E-A3ED-B9C8DB4CED59}" type="parTrans" cxnId="{963E5A4A-0874-470C-87B2-0A858CD09153}">
      <dgm:prSet/>
      <dgm:spPr/>
      <dgm:t>
        <a:bodyPr/>
        <a:lstStyle/>
        <a:p>
          <a:pPr algn="ctr"/>
          <a:endParaRPr lang="en-US"/>
        </a:p>
      </dgm:t>
    </dgm:pt>
    <dgm:pt modelId="{06705CCA-4A04-4A50-AC92-3BB0EEB24CAE}" type="sibTrans" cxnId="{963E5A4A-0874-470C-87B2-0A858CD09153}">
      <dgm:prSet/>
      <dgm:spPr/>
      <dgm:t>
        <a:bodyPr/>
        <a:lstStyle/>
        <a:p>
          <a:pPr algn="ctr"/>
          <a:endParaRPr lang="en-US"/>
        </a:p>
      </dgm:t>
    </dgm:pt>
    <dgm:pt modelId="{A63226C4-991C-4ADD-8DAF-3E8F6A7513E2}">
      <dgm:prSet/>
      <dgm:spPr/>
      <dgm:t>
        <a:bodyPr/>
        <a:lstStyle/>
        <a:p>
          <a:pPr algn="ctr"/>
          <a:r>
            <a:rPr lang="nb-NO" dirty="0"/>
            <a:t>Organisasi</a:t>
          </a:r>
        </a:p>
      </dgm:t>
    </dgm:pt>
    <dgm:pt modelId="{A8C0B4BD-3C0A-4487-9822-5646428A1A84}" type="parTrans" cxnId="{C146AEA0-AADB-453B-A677-BC59546FB1D6}">
      <dgm:prSet/>
      <dgm:spPr/>
      <dgm:t>
        <a:bodyPr/>
        <a:lstStyle/>
        <a:p>
          <a:pPr algn="ctr"/>
          <a:endParaRPr lang="en-US"/>
        </a:p>
      </dgm:t>
    </dgm:pt>
    <dgm:pt modelId="{F600A263-8614-4175-9576-D28F2D7DA3C1}" type="sibTrans" cxnId="{C146AEA0-AADB-453B-A677-BC59546FB1D6}">
      <dgm:prSet/>
      <dgm:spPr/>
      <dgm:t>
        <a:bodyPr/>
        <a:lstStyle/>
        <a:p>
          <a:pPr algn="ctr"/>
          <a:endParaRPr lang="en-US"/>
        </a:p>
      </dgm:t>
    </dgm:pt>
    <dgm:pt modelId="{3F728E8A-8A02-44F6-A7FA-770C41A0AC50}">
      <dgm:prSet/>
      <dgm:spPr/>
      <dgm:t>
        <a:bodyPr/>
        <a:lstStyle/>
        <a:p>
          <a:pPr algn="ctr"/>
          <a:r>
            <a:rPr lang="en-US" dirty="0" err="1"/>
            <a:t>Koordin</a:t>
          </a:r>
          <a:r>
            <a:rPr lang="nb-NO" dirty="0"/>
            <a:t>asi</a:t>
          </a:r>
        </a:p>
      </dgm:t>
    </dgm:pt>
    <dgm:pt modelId="{BEAA68A8-8D71-4B86-AEFE-943C199F4A0E}" type="parTrans" cxnId="{E79A80C4-04FF-4619-8A9D-94408072BFB0}">
      <dgm:prSet/>
      <dgm:spPr/>
      <dgm:t>
        <a:bodyPr/>
        <a:lstStyle/>
        <a:p>
          <a:pPr algn="ctr"/>
          <a:endParaRPr lang="en-US"/>
        </a:p>
      </dgm:t>
    </dgm:pt>
    <dgm:pt modelId="{C571EC77-3A61-4A4D-ACC1-15C69202F4A2}" type="sibTrans" cxnId="{E79A80C4-04FF-4619-8A9D-94408072BFB0}">
      <dgm:prSet/>
      <dgm:spPr/>
      <dgm:t>
        <a:bodyPr/>
        <a:lstStyle/>
        <a:p>
          <a:pPr algn="ctr"/>
          <a:endParaRPr lang="en-US"/>
        </a:p>
      </dgm:t>
    </dgm:pt>
    <dgm:pt modelId="{F7E40588-9C0E-429D-95C2-542441C40107}">
      <dgm:prSet/>
      <dgm:spPr/>
      <dgm:t>
        <a:bodyPr/>
        <a:lstStyle/>
        <a:p>
          <a:pPr algn="ctr"/>
          <a:r>
            <a:rPr lang="nb-NO" dirty="0"/>
            <a:t>Pengendalian</a:t>
          </a:r>
        </a:p>
      </dgm:t>
    </dgm:pt>
    <dgm:pt modelId="{51D24C68-D90D-4AC9-A249-822E1BBA2D82}" type="parTrans" cxnId="{BC8E2478-C7F5-4CC8-8D18-17E4A4C8BD96}">
      <dgm:prSet/>
      <dgm:spPr/>
      <dgm:t>
        <a:bodyPr/>
        <a:lstStyle/>
        <a:p>
          <a:pPr algn="ctr"/>
          <a:endParaRPr lang="en-US"/>
        </a:p>
      </dgm:t>
    </dgm:pt>
    <dgm:pt modelId="{A8D00BDA-B93F-4BC2-9826-8FF1D576707A}" type="sibTrans" cxnId="{BC8E2478-C7F5-4CC8-8D18-17E4A4C8BD96}">
      <dgm:prSet/>
      <dgm:spPr/>
      <dgm:t>
        <a:bodyPr/>
        <a:lstStyle/>
        <a:p>
          <a:pPr algn="ctr"/>
          <a:endParaRPr lang="en-US"/>
        </a:p>
      </dgm:t>
    </dgm:pt>
    <dgm:pt modelId="{1C17FA27-0810-4B66-BADF-AF0DA8796F1C}">
      <dgm:prSet/>
      <dgm:spPr/>
      <dgm:t>
        <a:bodyPr/>
        <a:lstStyle/>
        <a:p>
          <a:pPr algn="ctr"/>
          <a:r>
            <a:rPr lang="nb-NO" dirty="0"/>
            <a:t>Pengarahan</a:t>
          </a:r>
          <a:endParaRPr lang="en-US" dirty="0"/>
        </a:p>
      </dgm:t>
    </dgm:pt>
    <dgm:pt modelId="{EBB62E1E-0A81-4040-948E-E220DF74CFE8}" type="parTrans" cxnId="{78E0158B-5479-4274-AF98-746977F94799}">
      <dgm:prSet/>
      <dgm:spPr/>
      <dgm:t>
        <a:bodyPr/>
        <a:lstStyle/>
        <a:p>
          <a:pPr algn="ctr"/>
          <a:endParaRPr lang="en-US"/>
        </a:p>
      </dgm:t>
    </dgm:pt>
    <dgm:pt modelId="{AD8346A1-906B-4DD2-997F-ECA08E06408B}" type="sibTrans" cxnId="{78E0158B-5479-4274-AF98-746977F94799}">
      <dgm:prSet/>
      <dgm:spPr/>
      <dgm:t>
        <a:bodyPr/>
        <a:lstStyle/>
        <a:p>
          <a:pPr algn="ctr"/>
          <a:endParaRPr lang="en-US"/>
        </a:p>
      </dgm:t>
    </dgm:pt>
    <dgm:pt modelId="{17048C98-5E64-4212-BACD-08D36B0708BA}" type="pres">
      <dgm:prSet presAssocID="{1ED85622-C76B-4CC9-9F58-D6C7043BDB18}" presName="linear" presStyleCnt="0">
        <dgm:presLayoutVars>
          <dgm:animLvl val="lvl"/>
          <dgm:resizeHandles val="exact"/>
        </dgm:presLayoutVars>
      </dgm:prSet>
      <dgm:spPr/>
    </dgm:pt>
    <dgm:pt modelId="{5D31270D-C072-4443-B32E-24C0FA6E7122}" type="pres">
      <dgm:prSet presAssocID="{F0E9D3FF-9F51-4106-888D-8645B8A536B8}" presName="parentText" presStyleLbl="node1" presStyleIdx="0" presStyleCnt="5">
        <dgm:presLayoutVars>
          <dgm:chMax val="0"/>
          <dgm:bulletEnabled val="1"/>
        </dgm:presLayoutVars>
      </dgm:prSet>
      <dgm:spPr/>
    </dgm:pt>
    <dgm:pt modelId="{AE21520D-7435-4C19-B808-2755180D165C}" type="pres">
      <dgm:prSet presAssocID="{06705CCA-4A04-4A50-AC92-3BB0EEB24CAE}" presName="spacer" presStyleCnt="0"/>
      <dgm:spPr/>
    </dgm:pt>
    <dgm:pt modelId="{903295A2-15EC-4E37-96EA-8B1B9F0C6067}" type="pres">
      <dgm:prSet presAssocID="{A63226C4-991C-4ADD-8DAF-3E8F6A7513E2}" presName="parentText" presStyleLbl="node1" presStyleIdx="1" presStyleCnt="5">
        <dgm:presLayoutVars>
          <dgm:chMax val="0"/>
          <dgm:bulletEnabled val="1"/>
        </dgm:presLayoutVars>
      </dgm:prSet>
      <dgm:spPr/>
    </dgm:pt>
    <dgm:pt modelId="{73E7DC65-1D91-4ACA-9D72-0C2241B282DD}" type="pres">
      <dgm:prSet presAssocID="{F600A263-8614-4175-9576-D28F2D7DA3C1}" presName="spacer" presStyleCnt="0"/>
      <dgm:spPr/>
    </dgm:pt>
    <dgm:pt modelId="{85CA1F05-961D-4EC2-923B-EDDE04113F68}" type="pres">
      <dgm:prSet presAssocID="{3F728E8A-8A02-44F6-A7FA-770C41A0AC50}" presName="parentText" presStyleLbl="node1" presStyleIdx="2" presStyleCnt="5">
        <dgm:presLayoutVars>
          <dgm:chMax val="0"/>
          <dgm:bulletEnabled val="1"/>
        </dgm:presLayoutVars>
      </dgm:prSet>
      <dgm:spPr/>
    </dgm:pt>
    <dgm:pt modelId="{A819B555-9274-4FAC-8615-E4F640CF23B5}" type="pres">
      <dgm:prSet presAssocID="{C571EC77-3A61-4A4D-ACC1-15C69202F4A2}" presName="spacer" presStyleCnt="0"/>
      <dgm:spPr/>
    </dgm:pt>
    <dgm:pt modelId="{4518A7EB-6570-479F-AB4E-B25AF7E1B0CC}" type="pres">
      <dgm:prSet presAssocID="{F7E40588-9C0E-429D-95C2-542441C40107}" presName="parentText" presStyleLbl="node1" presStyleIdx="3" presStyleCnt="5">
        <dgm:presLayoutVars>
          <dgm:chMax val="0"/>
          <dgm:bulletEnabled val="1"/>
        </dgm:presLayoutVars>
      </dgm:prSet>
      <dgm:spPr/>
    </dgm:pt>
    <dgm:pt modelId="{882DF565-F6F4-486B-9863-217EAFA164D6}" type="pres">
      <dgm:prSet presAssocID="{A8D00BDA-B93F-4BC2-9826-8FF1D576707A}" presName="spacer" presStyleCnt="0"/>
      <dgm:spPr/>
    </dgm:pt>
    <dgm:pt modelId="{8B2DD78A-9350-4D5C-BF7F-A4B51C1866C1}" type="pres">
      <dgm:prSet presAssocID="{1C17FA27-0810-4B66-BADF-AF0DA8796F1C}" presName="parentText" presStyleLbl="node1" presStyleIdx="4" presStyleCnt="5">
        <dgm:presLayoutVars>
          <dgm:chMax val="0"/>
          <dgm:bulletEnabled val="1"/>
        </dgm:presLayoutVars>
      </dgm:prSet>
      <dgm:spPr/>
    </dgm:pt>
  </dgm:ptLst>
  <dgm:cxnLst>
    <dgm:cxn modelId="{6BBE8164-E523-4EC0-968B-B7F10DB0A40B}" type="presOf" srcId="{F0E9D3FF-9F51-4106-888D-8645B8A536B8}" destId="{5D31270D-C072-4443-B32E-24C0FA6E7122}" srcOrd="0" destOrd="0" presId="urn:microsoft.com/office/officeart/2005/8/layout/vList2"/>
    <dgm:cxn modelId="{963E5A4A-0874-470C-87B2-0A858CD09153}" srcId="{1ED85622-C76B-4CC9-9F58-D6C7043BDB18}" destId="{F0E9D3FF-9F51-4106-888D-8645B8A536B8}" srcOrd="0" destOrd="0" parTransId="{7E804A7A-A096-451E-A3ED-B9C8DB4CED59}" sibTransId="{06705CCA-4A04-4A50-AC92-3BB0EEB24CAE}"/>
    <dgm:cxn modelId="{CACCC953-DCD0-479F-AF62-BF62319A40DA}" type="presOf" srcId="{A63226C4-991C-4ADD-8DAF-3E8F6A7513E2}" destId="{903295A2-15EC-4E37-96EA-8B1B9F0C6067}" srcOrd="0" destOrd="0" presId="urn:microsoft.com/office/officeart/2005/8/layout/vList2"/>
    <dgm:cxn modelId="{BC8E2478-C7F5-4CC8-8D18-17E4A4C8BD96}" srcId="{1ED85622-C76B-4CC9-9F58-D6C7043BDB18}" destId="{F7E40588-9C0E-429D-95C2-542441C40107}" srcOrd="3" destOrd="0" parTransId="{51D24C68-D90D-4AC9-A249-822E1BBA2D82}" sibTransId="{A8D00BDA-B93F-4BC2-9826-8FF1D576707A}"/>
    <dgm:cxn modelId="{6CB3677D-EB34-4E60-B551-E856C5D061A4}" type="presOf" srcId="{1ED85622-C76B-4CC9-9F58-D6C7043BDB18}" destId="{17048C98-5E64-4212-BACD-08D36B0708BA}" srcOrd="0" destOrd="0" presId="urn:microsoft.com/office/officeart/2005/8/layout/vList2"/>
    <dgm:cxn modelId="{78E0158B-5479-4274-AF98-746977F94799}" srcId="{1ED85622-C76B-4CC9-9F58-D6C7043BDB18}" destId="{1C17FA27-0810-4B66-BADF-AF0DA8796F1C}" srcOrd="4" destOrd="0" parTransId="{EBB62E1E-0A81-4040-948E-E220DF74CFE8}" sibTransId="{AD8346A1-906B-4DD2-997F-ECA08E06408B}"/>
    <dgm:cxn modelId="{C146AEA0-AADB-453B-A677-BC59546FB1D6}" srcId="{1ED85622-C76B-4CC9-9F58-D6C7043BDB18}" destId="{A63226C4-991C-4ADD-8DAF-3E8F6A7513E2}" srcOrd="1" destOrd="0" parTransId="{A8C0B4BD-3C0A-4487-9822-5646428A1A84}" sibTransId="{F600A263-8614-4175-9576-D28F2D7DA3C1}"/>
    <dgm:cxn modelId="{3D8D36AE-EADF-4E94-87E9-37DFACE66001}" type="presOf" srcId="{F7E40588-9C0E-429D-95C2-542441C40107}" destId="{4518A7EB-6570-479F-AB4E-B25AF7E1B0CC}" srcOrd="0" destOrd="0" presId="urn:microsoft.com/office/officeart/2005/8/layout/vList2"/>
    <dgm:cxn modelId="{E79A80C4-04FF-4619-8A9D-94408072BFB0}" srcId="{1ED85622-C76B-4CC9-9F58-D6C7043BDB18}" destId="{3F728E8A-8A02-44F6-A7FA-770C41A0AC50}" srcOrd="2" destOrd="0" parTransId="{BEAA68A8-8D71-4B86-AEFE-943C199F4A0E}" sibTransId="{C571EC77-3A61-4A4D-ACC1-15C69202F4A2}"/>
    <dgm:cxn modelId="{993490E4-6BAB-4725-B6BF-E2CE34AB5AA9}" type="presOf" srcId="{1C17FA27-0810-4B66-BADF-AF0DA8796F1C}" destId="{8B2DD78A-9350-4D5C-BF7F-A4B51C1866C1}" srcOrd="0" destOrd="0" presId="urn:microsoft.com/office/officeart/2005/8/layout/vList2"/>
    <dgm:cxn modelId="{1809DDF6-0EDC-4ECE-8A71-78DEBE1EC061}" type="presOf" srcId="{3F728E8A-8A02-44F6-A7FA-770C41A0AC50}" destId="{85CA1F05-961D-4EC2-923B-EDDE04113F68}" srcOrd="0" destOrd="0" presId="urn:microsoft.com/office/officeart/2005/8/layout/vList2"/>
    <dgm:cxn modelId="{5C41359E-87D9-47AB-B3C0-BA4DA61AEE5D}" type="presParOf" srcId="{17048C98-5E64-4212-BACD-08D36B0708BA}" destId="{5D31270D-C072-4443-B32E-24C0FA6E7122}" srcOrd="0" destOrd="0" presId="urn:microsoft.com/office/officeart/2005/8/layout/vList2"/>
    <dgm:cxn modelId="{D9D51A1C-2D86-4331-A47F-1F650A4DF6E9}" type="presParOf" srcId="{17048C98-5E64-4212-BACD-08D36B0708BA}" destId="{AE21520D-7435-4C19-B808-2755180D165C}" srcOrd="1" destOrd="0" presId="urn:microsoft.com/office/officeart/2005/8/layout/vList2"/>
    <dgm:cxn modelId="{521FC6D0-52C0-44B7-B7E0-0ED771E15D22}" type="presParOf" srcId="{17048C98-5E64-4212-BACD-08D36B0708BA}" destId="{903295A2-15EC-4E37-96EA-8B1B9F0C6067}" srcOrd="2" destOrd="0" presId="urn:microsoft.com/office/officeart/2005/8/layout/vList2"/>
    <dgm:cxn modelId="{FDE93748-5749-45CC-9879-387A17BA39A9}" type="presParOf" srcId="{17048C98-5E64-4212-BACD-08D36B0708BA}" destId="{73E7DC65-1D91-4ACA-9D72-0C2241B282DD}" srcOrd="3" destOrd="0" presId="urn:microsoft.com/office/officeart/2005/8/layout/vList2"/>
    <dgm:cxn modelId="{7F45EE07-6615-434E-9E6A-85D8CC64E367}" type="presParOf" srcId="{17048C98-5E64-4212-BACD-08D36B0708BA}" destId="{85CA1F05-961D-4EC2-923B-EDDE04113F68}" srcOrd="4" destOrd="0" presId="urn:microsoft.com/office/officeart/2005/8/layout/vList2"/>
    <dgm:cxn modelId="{6ABCFFC0-E085-401E-B55D-031AAA6F9F0E}" type="presParOf" srcId="{17048C98-5E64-4212-BACD-08D36B0708BA}" destId="{A819B555-9274-4FAC-8615-E4F640CF23B5}" srcOrd="5" destOrd="0" presId="urn:microsoft.com/office/officeart/2005/8/layout/vList2"/>
    <dgm:cxn modelId="{1782915A-E420-4737-B38D-7F4610D948D7}" type="presParOf" srcId="{17048C98-5E64-4212-BACD-08D36B0708BA}" destId="{4518A7EB-6570-479F-AB4E-B25AF7E1B0CC}" srcOrd="6" destOrd="0" presId="urn:microsoft.com/office/officeart/2005/8/layout/vList2"/>
    <dgm:cxn modelId="{0DCE4690-FE8D-4113-B8E0-473BC14E02CB}" type="presParOf" srcId="{17048C98-5E64-4212-BACD-08D36B0708BA}" destId="{882DF565-F6F4-486B-9863-217EAFA164D6}" srcOrd="7" destOrd="0" presId="urn:microsoft.com/office/officeart/2005/8/layout/vList2"/>
    <dgm:cxn modelId="{2D26C3A0-AA0B-44E7-8BAE-0184FF1194D4}" type="presParOf" srcId="{17048C98-5E64-4212-BACD-08D36B0708BA}" destId="{8B2DD78A-9350-4D5C-BF7F-A4B51C1866C1}"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31270D-C072-4443-B32E-24C0FA6E7122}">
      <dsp:nvSpPr>
        <dsp:cNvPr id="0" name=""/>
        <dsp:cNvSpPr/>
      </dsp:nvSpPr>
      <dsp:spPr>
        <a:xfrm>
          <a:off x="0" y="60325"/>
          <a:ext cx="6096000" cy="719549"/>
        </a:xfrm>
        <a:prstGeom prst="roundRect">
          <a:avLst/>
        </a:prstGeom>
        <a:solidFill>
          <a:schemeClr val="accent1">
            <a:shade val="50000"/>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err="1"/>
            <a:t>Perenc</a:t>
          </a:r>
          <a:r>
            <a:rPr lang="nb-NO" sz="3000" kern="1200" dirty="0"/>
            <a:t>anaan</a:t>
          </a:r>
        </a:p>
      </dsp:txBody>
      <dsp:txXfrm>
        <a:off x="35125" y="95450"/>
        <a:ext cx="6025750" cy="649299"/>
      </dsp:txXfrm>
    </dsp:sp>
    <dsp:sp modelId="{903295A2-15EC-4E37-96EA-8B1B9F0C6067}">
      <dsp:nvSpPr>
        <dsp:cNvPr id="0" name=""/>
        <dsp:cNvSpPr/>
      </dsp:nvSpPr>
      <dsp:spPr>
        <a:xfrm>
          <a:off x="0" y="866274"/>
          <a:ext cx="6096000" cy="719549"/>
        </a:xfrm>
        <a:prstGeom prst="roundRect">
          <a:avLst/>
        </a:prstGeom>
        <a:solidFill>
          <a:schemeClr val="accent1">
            <a:shade val="50000"/>
            <a:hueOff val="-264225"/>
            <a:satOff val="-7693"/>
            <a:lumOff val="19567"/>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nb-NO" sz="3000" kern="1200" dirty="0"/>
            <a:t>Organisasi</a:t>
          </a:r>
        </a:p>
      </dsp:txBody>
      <dsp:txXfrm>
        <a:off x="35125" y="901399"/>
        <a:ext cx="6025750" cy="649299"/>
      </dsp:txXfrm>
    </dsp:sp>
    <dsp:sp modelId="{85CA1F05-961D-4EC2-923B-EDDE04113F68}">
      <dsp:nvSpPr>
        <dsp:cNvPr id="0" name=""/>
        <dsp:cNvSpPr/>
      </dsp:nvSpPr>
      <dsp:spPr>
        <a:xfrm>
          <a:off x="0" y="1672224"/>
          <a:ext cx="6096000" cy="719549"/>
        </a:xfrm>
        <a:prstGeom prst="roundRect">
          <a:avLst/>
        </a:prstGeom>
        <a:solidFill>
          <a:schemeClr val="accent1">
            <a:shade val="50000"/>
            <a:hueOff val="-528450"/>
            <a:satOff val="-15386"/>
            <a:lumOff val="39134"/>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err="1"/>
            <a:t>Koordin</a:t>
          </a:r>
          <a:r>
            <a:rPr lang="nb-NO" sz="3000" kern="1200" dirty="0"/>
            <a:t>asi</a:t>
          </a:r>
        </a:p>
      </dsp:txBody>
      <dsp:txXfrm>
        <a:off x="35125" y="1707349"/>
        <a:ext cx="6025750" cy="649299"/>
      </dsp:txXfrm>
    </dsp:sp>
    <dsp:sp modelId="{4518A7EB-6570-479F-AB4E-B25AF7E1B0CC}">
      <dsp:nvSpPr>
        <dsp:cNvPr id="0" name=""/>
        <dsp:cNvSpPr/>
      </dsp:nvSpPr>
      <dsp:spPr>
        <a:xfrm>
          <a:off x="0" y="2478175"/>
          <a:ext cx="6096000" cy="719549"/>
        </a:xfrm>
        <a:prstGeom prst="roundRect">
          <a:avLst/>
        </a:prstGeom>
        <a:solidFill>
          <a:schemeClr val="accent1">
            <a:shade val="50000"/>
            <a:hueOff val="-528450"/>
            <a:satOff val="-15386"/>
            <a:lumOff val="39134"/>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nb-NO" sz="3000" kern="1200" dirty="0"/>
            <a:t>Pengendalian</a:t>
          </a:r>
        </a:p>
      </dsp:txBody>
      <dsp:txXfrm>
        <a:off x="35125" y="2513300"/>
        <a:ext cx="6025750" cy="649299"/>
      </dsp:txXfrm>
    </dsp:sp>
    <dsp:sp modelId="{8B2DD78A-9350-4D5C-BF7F-A4B51C1866C1}">
      <dsp:nvSpPr>
        <dsp:cNvPr id="0" name=""/>
        <dsp:cNvSpPr/>
      </dsp:nvSpPr>
      <dsp:spPr>
        <a:xfrm>
          <a:off x="0" y="3284125"/>
          <a:ext cx="6096000" cy="719549"/>
        </a:xfrm>
        <a:prstGeom prst="roundRect">
          <a:avLst/>
        </a:prstGeom>
        <a:solidFill>
          <a:schemeClr val="accent1">
            <a:shade val="50000"/>
            <a:hueOff val="-264225"/>
            <a:satOff val="-7693"/>
            <a:lumOff val="19567"/>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nb-NO" sz="3000" kern="1200" dirty="0"/>
            <a:t>Pengarahan</a:t>
          </a:r>
          <a:endParaRPr lang="en-US" sz="3000" kern="1200" dirty="0"/>
        </a:p>
      </dsp:txBody>
      <dsp:txXfrm>
        <a:off x="35125" y="3319250"/>
        <a:ext cx="6025750" cy="64929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45555FE-D856-1F48-84DD-1DEFAC7BEA69}" type="datetimeFigureOut">
              <a:rPr lang="en-US" smtClean="0"/>
              <a:pPr/>
              <a:t>8/30/2022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04577F-78E1-A242-BB1D-8300E53C7610}" type="slidenum">
              <a:rPr lang="en-US" smtClean="0"/>
              <a:pPr/>
              <a:t>‹#›</a:t>
            </a:fld>
            <a:endParaRPr lang="en-US"/>
          </a:p>
        </p:txBody>
      </p:sp>
    </p:spTree>
    <p:extLst>
      <p:ext uri="{BB962C8B-B14F-4D97-AF65-F5344CB8AC3E}">
        <p14:creationId xmlns:p14="http://schemas.microsoft.com/office/powerpoint/2010/main" val="274741751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004577F-78E1-A242-BB1D-8300E53C7610}" type="slidenum">
              <a:rPr lang="en-US" smtClean="0"/>
              <a:pPr/>
              <a:t>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004577F-78E1-A242-BB1D-8300E53C7610}" type="slidenum">
              <a:rPr lang="en-US" smtClean="0"/>
              <a:pPr/>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70BA1CFD-BFF0-48BC-9BA5-4974D7A6AB15}" type="datetimeFigureOut">
              <a:rPr lang="en-US" smtClean="0"/>
              <a:pPr/>
              <a:t>8/30/2022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2AA694-00EB-4F4B-AABB-6F50FB178914}"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0BA1CFD-BFF0-48BC-9BA5-4974D7A6AB15}" type="datetimeFigureOut">
              <a:rPr lang="en-US" smtClean="0"/>
              <a:pPr/>
              <a:t>8/30/2022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2AA694-00EB-4F4B-AABB-6F50FB17891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a:t>Click to edit Master title style</a:t>
            </a:r>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0BA1CFD-BFF0-48BC-9BA5-4974D7A6AB15}" type="datetimeFigureOut">
              <a:rPr lang="en-US" smtClean="0"/>
              <a:pPr/>
              <a:t>8/30/2022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2AA694-00EB-4F4B-AABB-6F50FB178914}"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0BA1CFD-BFF0-48BC-9BA5-4974D7A6AB15}" type="datetimeFigureOut">
              <a:rPr lang="en-US" smtClean="0"/>
              <a:pPr/>
              <a:t>8/30/2022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2AA694-00EB-4F4B-AABB-6F50FB17891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70BA1CFD-BFF0-48BC-9BA5-4974D7A6AB15}" type="datetimeFigureOut">
              <a:rPr lang="en-US" smtClean="0"/>
              <a:pPr/>
              <a:t>8/30/2022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2AA694-00EB-4F4B-AABB-6F50FB17891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70BA1CFD-BFF0-48BC-9BA5-4974D7A6AB15}" type="datetimeFigureOut">
              <a:rPr lang="en-US" smtClean="0"/>
              <a:pPr/>
              <a:t>8/30/2022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2AA694-00EB-4F4B-AABB-6F50FB17891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BA1CFD-BFF0-48BC-9BA5-4974D7A6AB15}" type="datetimeFigureOut">
              <a:rPr lang="en-US" smtClean="0"/>
              <a:pPr/>
              <a:t>8/30/2022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2AA694-00EB-4F4B-AABB-6F50FB17891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70BA1CFD-BFF0-48BC-9BA5-4974D7A6AB15}" type="datetimeFigureOut">
              <a:rPr lang="en-US" smtClean="0"/>
              <a:pPr/>
              <a:t>8/30/2022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2AA694-00EB-4F4B-AABB-6F50FB178914}"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70BA1CFD-BFF0-48BC-9BA5-4974D7A6AB15}" type="datetimeFigureOut">
              <a:rPr lang="en-US" smtClean="0"/>
              <a:pPr/>
              <a:t>8/30/2022</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D12AA694-00EB-4F4B-AABB-6F50FB178914}"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0BA1CFD-BFF0-48BC-9BA5-4974D7A6AB15}" type="datetimeFigureOut">
              <a:rPr lang="en-US" smtClean="0"/>
              <a:pPr/>
              <a:t>8/30/2022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2AA694-00EB-4F4B-AABB-6F50FB17891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0BA1CFD-BFF0-48BC-9BA5-4974D7A6AB15}" type="datetimeFigureOut">
              <a:rPr lang="en-US" smtClean="0"/>
              <a:pPr/>
              <a:t>8/30/2022</a:t>
            </a:fld>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D12AA694-00EB-4F4B-AABB-6F50FB17891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a:t>Click to edit Master title style</a:t>
            </a:r>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70BA1CFD-BFF0-48BC-9BA5-4974D7A6AB15}" type="datetimeFigureOut">
              <a:rPr lang="en-US" smtClean="0"/>
              <a:pPr/>
              <a:t>8/30/2022</a:t>
            </a:fld>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D12AA694-00EB-4F4B-AABB-6F50FB17891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29803"/>
            <a:ext cx="8077200" cy="1673352"/>
          </a:xfrm>
        </p:spPr>
        <p:txBody>
          <a:bodyPr>
            <a:noAutofit/>
          </a:bodyPr>
          <a:lstStyle/>
          <a:p>
            <a:r>
              <a:rPr lang="en-US" sz="6000" dirty="0" err="1"/>
              <a:t>Definisi</a:t>
            </a:r>
            <a:r>
              <a:rPr lang="en-US" sz="6000" dirty="0"/>
              <a:t> dan </a:t>
            </a:r>
            <a:r>
              <a:rPr lang="en-US" sz="6000" dirty="0" err="1"/>
              <a:t>Siklus</a:t>
            </a:r>
            <a:r>
              <a:rPr lang="en-US" sz="6000" dirty="0"/>
              <a:t> </a:t>
            </a:r>
            <a:r>
              <a:rPr lang="en-US" sz="6000" dirty="0" err="1"/>
              <a:t>Manajemen</a:t>
            </a:r>
            <a:r>
              <a:rPr lang="en-US" sz="6000" dirty="0"/>
              <a:t> </a:t>
            </a:r>
            <a:r>
              <a:rPr lang="en-US" sz="6000" dirty="0" err="1"/>
              <a:t>Proyek</a:t>
            </a:r>
            <a:endParaRPr lang="en-US"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70E29-D4DA-426C-AE36-A0517B0F11EB}"/>
              </a:ext>
            </a:extLst>
          </p:cNvPr>
          <p:cNvSpPr>
            <a:spLocks noGrp="1"/>
          </p:cNvSpPr>
          <p:nvPr>
            <p:ph type="title"/>
          </p:nvPr>
        </p:nvSpPr>
        <p:spPr>
          <a:xfrm>
            <a:off x="457200" y="537328"/>
            <a:ext cx="8229600" cy="870848"/>
          </a:xfrm>
        </p:spPr>
        <p:txBody>
          <a:bodyPr>
            <a:normAutofit fontScale="90000"/>
          </a:bodyPr>
          <a:lstStyle/>
          <a:p>
            <a:r>
              <a:rPr lang="en-US" b="0" dirty="0"/>
              <a:t>Project Management Tree Swing Analogy</a:t>
            </a:r>
            <a:br>
              <a:rPr lang="en-US" b="0" dirty="0"/>
            </a:br>
            <a:endParaRPr lang="en-ID" dirty="0"/>
          </a:p>
        </p:txBody>
      </p:sp>
      <p:sp>
        <p:nvSpPr>
          <p:cNvPr id="3" name="Content Placeholder 2">
            <a:extLst>
              <a:ext uri="{FF2B5EF4-FFF2-40B4-BE49-F238E27FC236}">
                <a16:creationId xmlns:a16="http://schemas.microsoft.com/office/drawing/2014/main" id="{57220519-5D80-478F-BEC1-0C41EB4ACC11}"/>
              </a:ext>
            </a:extLst>
          </p:cNvPr>
          <p:cNvSpPr>
            <a:spLocks noGrp="1"/>
          </p:cNvSpPr>
          <p:nvPr>
            <p:ph idx="1"/>
          </p:nvPr>
        </p:nvSpPr>
        <p:spPr/>
        <p:txBody>
          <a:bodyPr/>
          <a:lstStyle/>
          <a:p>
            <a:endParaRPr lang="en-ID"/>
          </a:p>
        </p:txBody>
      </p:sp>
      <p:pic>
        <p:nvPicPr>
          <p:cNvPr id="1026" name="Picture 2" descr="https://cdn.zsite.net/us1/upload/201712/f_2a1ca764ce384a33d056f8256f6a1ce5.jpg">
            <a:extLst>
              <a:ext uri="{FF2B5EF4-FFF2-40B4-BE49-F238E27FC236}">
                <a16:creationId xmlns:a16="http://schemas.microsoft.com/office/drawing/2014/main" id="{EFC3F81B-8887-4730-A13A-34167EDD728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48792" y="1650843"/>
            <a:ext cx="8446416" cy="5207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4326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dirty="0"/>
              <a:t>Apa itu Manajemen?</a:t>
            </a:r>
            <a:endParaRPr lang="en-US" dirty="0"/>
          </a:p>
        </p:txBody>
      </p:sp>
      <p:sp>
        <p:nvSpPr>
          <p:cNvPr id="3" name="Text Placeholder 2"/>
          <p:cNvSpPr>
            <a:spLocks noGrp="1"/>
          </p:cNvSpPr>
          <p:nvPr>
            <p:ph type="body" idx="1"/>
          </p:nvPr>
        </p:nvSpPr>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
            </a:r>
            <a:r>
              <a:rPr lang="nb-NO" dirty="0"/>
              <a:t>anajemen Sebagai Seni</a:t>
            </a:r>
            <a:endParaRPr lang="en-US" dirty="0"/>
          </a:p>
        </p:txBody>
      </p:sp>
      <p:sp>
        <p:nvSpPr>
          <p:cNvPr id="3" name="Content Placeholder 2"/>
          <p:cNvSpPr>
            <a:spLocks noGrp="1"/>
          </p:cNvSpPr>
          <p:nvPr>
            <p:ph idx="1"/>
          </p:nvPr>
        </p:nvSpPr>
        <p:spPr/>
        <p:txBody>
          <a:bodyPr/>
          <a:lstStyle/>
          <a:p>
            <a:r>
              <a:rPr lang="en-US" dirty="0" err="1"/>
              <a:t>Seni</a:t>
            </a:r>
            <a:r>
              <a:rPr lang="en-US" dirty="0"/>
              <a:t> </a:t>
            </a:r>
            <a:r>
              <a:rPr lang="en-US" dirty="0" err="1"/>
              <a:t>untuk</a:t>
            </a:r>
            <a:r>
              <a:rPr lang="en-US" dirty="0"/>
              <a:t> mere</a:t>
            </a:r>
            <a:r>
              <a:rPr lang="nb-NO" dirty="0"/>
              <a:t>alisasikan pekerjaan melalui orang lain</a:t>
            </a:r>
          </a:p>
          <a:p>
            <a:pPr lvl="1"/>
            <a:r>
              <a:rPr lang="nb-NO" dirty="0"/>
              <a:t>Seni  memimpin</a:t>
            </a:r>
          </a:p>
          <a:p>
            <a:pPr lvl="1"/>
            <a:r>
              <a:rPr lang="nb-NO" dirty="0"/>
              <a:t>Seni berkomunikasi</a:t>
            </a:r>
          </a:p>
          <a:p>
            <a:pPr lvl="1"/>
            <a:r>
              <a:rPr lang="nb-NO" dirty="0"/>
              <a:t>Seni memotivasi dan mempengaruhi</a:t>
            </a:r>
          </a:p>
          <a:p>
            <a:pPr lvl="1"/>
            <a:r>
              <a:rPr lang="nb-NO" dirty="0"/>
              <a:t>Dll </a:t>
            </a:r>
          </a:p>
          <a:p>
            <a:r>
              <a:rPr lang="nb-NO" dirty="0"/>
              <a:t>Lebih ke arah kemampuan dan keterampilan pribadi (manajer)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Fungsi</a:t>
            </a:r>
            <a:r>
              <a:rPr lang="en-US" dirty="0"/>
              <a:t> M</a:t>
            </a:r>
            <a:r>
              <a:rPr lang="nb-NO" dirty="0"/>
              <a:t>anajemen</a:t>
            </a:r>
            <a:endParaRPr lang="en-US" dirty="0"/>
          </a:p>
        </p:txBody>
      </p:sp>
      <p:sp>
        <p:nvSpPr>
          <p:cNvPr id="3" name="Content Placeholder 2"/>
          <p:cNvSpPr>
            <a:spLocks noGrp="1"/>
          </p:cNvSpPr>
          <p:nvPr>
            <p:ph idx="1"/>
          </p:nvPr>
        </p:nvSpPr>
        <p:spPr/>
        <p:txBody>
          <a:bodyPr/>
          <a:lstStyle/>
          <a:p>
            <a:endParaRPr lang="en-US" dirty="0"/>
          </a:p>
        </p:txBody>
      </p:sp>
      <p:graphicFrame>
        <p:nvGraphicFramePr>
          <p:cNvPr id="4" name="Diagram 3"/>
          <p:cNvGraphicFramePr/>
          <p:nvPr/>
        </p:nvGraphicFramePr>
        <p:xfrm>
          <a:off x="987973" y="1986455"/>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Definisi</a:t>
            </a:r>
            <a:r>
              <a:rPr lang="en-US" dirty="0"/>
              <a:t> </a:t>
            </a:r>
            <a:r>
              <a:rPr lang="en-US" dirty="0" err="1"/>
              <a:t>Manajemen</a:t>
            </a:r>
            <a:endParaRPr lang="en-US" dirty="0"/>
          </a:p>
        </p:txBody>
      </p:sp>
      <p:sp>
        <p:nvSpPr>
          <p:cNvPr id="3" name="Content Placeholder 2"/>
          <p:cNvSpPr>
            <a:spLocks noGrp="1"/>
          </p:cNvSpPr>
          <p:nvPr>
            <p:ph idx="1"/>
          </p:nvPr>
        </p:nvSpPr>
        <p:spPr/>
        <p:txBody>
          <a:bodyPr>
            <a:normAutofit/>
          </a:bodyPr>
          <a:lstStyle/>
          <a:p>
            <a:r>
              <a:rPr lang="nb-NO" dirty="0"/>
              <a:t>Manajemen adalah </a:t>
            </a:r>
            <a:r>
              <a:rPr lang="nb-NO" dirty="0">
                <a:effectLst/>
              </a:rPr>
              <a:t>proses merencanakan, mengorganisasikan, memimpin, mengendalikan usaha-usaha anggota organisasi dan proses penggunaan sumber daya organisasi untuk mencapai tujuan organisasi yang telah ditetapkan ( Stoner &amp; Wankel)</a:t>
            </a:r>
            <a:endParaRPr lang="nb-NO" dirty="0"/>
          </a:p>
          <a:p>
            <a:endParaRPr lang="en-US" dirty="0"/>
          </a:p>
        </p:txBody>
      </p:sp>
    </p:spTree>
    <p:extLst>
      <p:ext uri="{BB962C8B-B14F-4D97-AF65-F5344CB8AC3E}">
        <p14:creationId xmlns:p14="http://schemas.microsoft.com/office/powerpoint/2010/main" val="1676958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hu-HU" dirty="0">
                <a:effectLst/>
              </a:rPr>
            </a:br>
            <a:r>
              <a:rPr lang="en-US" dirty="0" err="1">
                <a:effectLst/>
              </a:rPr>
              <a:t>Definisi</a:t>
            </a:r>
            <a:r>
              <a:rPr lang="en-US" dirty="0">
                <a:effectLst/>
              </a:rPr>
              <a:t> </a:t>
            </a:r>
            <a:r>
              <a:rPr lang="hu-HU" dirty="0">
                <a:effectLst/>
              </a:rPr>
              <a:t>Proyek</a:t>
            </a:r>
            <a:br>
              <a:rPr lang="hu-HU" dirty="0"/>
            </a:br>
            <a:endParaRPr lang="en-US" dirty="0"/>
          </a:p>
        </p:txBody>
      </p:sp>
      <p:sp>
        <p:nvSpPr>
          <p:cNvPr id="3" name="Content Placeholder 2"/>
          <p:cNvSpPr>
            <a:spLocks noGrp="1"/>
          </p:cNvSpPr>
          <p:nvPr>
            <p:ph idx="1"/>
          </p:nvPr>
        </p:nvSpPr>
        <p:spPr>
          <a:xfrm>
            <a:off x="457200" y="1655379"/>
            <a:ext cx="8222250" cy="4882209"/>
          </a:xfrm>
        </p:spPr>
        <p:txBody>
          <a:bodyPr>
            <a:normAutofit fontScale="92500" lnSpcReduction="20000"/>
          </a:bodyPr>
          <a:lstStyle/>
          <a:p>
            <a:r>
              <a:rPr lang="tr-TR" dirty="0">
                <a:effectLst/>
              </a:rPr>
              <a:t>Proyek adalah </a:t>
            </a:r>
            <a:r>
              <a:rPr lang="en-US" dirty="0" err="1">
                <a:effectLst/>
              </a:rPr>
              <a:t>su</a:t>
            </a:r>
            <a:r>
              <a:rPr lang="tr-TR" dirty="0"/>
              <a:t>a</a:t>
            </a:r>
            <a:r>
              <a:rPr lang="en-US" dirty="0" err="1"/>
              <a:t>tu</a:t>
            </a:r>
            <a:r>
              <a:rPr lang="en-US" dirty="0"/>
              <a:t> </a:t>
            </a:r>
            <a:r>
              <a:rPr lang="tr-TR" dirty="0"/>
              <a:t>usaha </a:t>
            </a:r>
            <a:r>
              <a:rPr lang="tr-TR" b="1" dirty="0">
                <a:effectLst/>
              </a:rPr>
              <a:t>sementara</a:t>
            </a:r>
            <a:r>
              <a:rPr lang="tr-TR" dirty="0">
                <a:effectLst/>
              </a:rPr>
              <a:t> yang dilak</a:t>
            </a:r>
            <a:r>
              <a:rPr lang="en-US" dirty="0">
                <a:effectLst/>
              </a:rPr>
              <a:t>s</a:t>
            </a:r>
            <a:r>
              <a:rPr lang="tr-TR" dirty="0"/>
              <a:t>a</a:t>
            </a:r>
            <a:r>
              <a:rPr lang="en-US" dirty="0"/>
              <a:t>n</a:t>
            </a:r>
            <a:r>
              <a:rPr lang="tr-TR" dirty="0"/>
              <a:t>a</a:t>
            </a:r>
            <a:r>
              <a:rPr lang="en-US" dirty="0"/>
              <a:t>k</a:t>
            </a:r>
            <a:r>
              <a:rPr lang="tr-TR" dirty="0"/>
              <a:t>a</a:t>
            </a:r>
            <a:r>
              <a:rPr lang="en-US" dirty="0"/>
              <a:t>n </a:t>
            </a:r>
            <a:r>
              <a:rPr lang="en-US" dirty="0" err="1"/>
              <a:t>untuk</a:t>
            </a:r>
            <a:r>
              <a:rPr lang="en-US" dirty="0"/>
              <a:t> </a:t>
            </a:r>
            <a:r>
              <a:rPr lang="en-US" dirty="0" err="1"/>
              <a:t>mengh</a:t>
            </a:r>
            <a:r>
              <a:rPr lang="tr-TR" dirty="0"/>
              <a:t>a</a:t>
            </a:r>
            <a:r>
              <a:rPr lang="en-US" dirty="0"/>
              <a:t>silk</a:t>
            </a:r>
            <a:r>
              <a:rPr lang="tr-TR" dirty="0"/>
              <a:t>a</a:t>
            </a:r>
            <a:r>
              <a:rPr lang="en-US" dirty="0"/>
              <a:t>n </a:t>
            </a:r>
            <a:r>
              <a:rPr lang="en-US" dirty="0" err="1"/>
              <a:t>su</a:t>
            </a:r>
            <a:r>
              <a:rPr lang="tr-TR" dirty="0"/>
              <a:t>a</a:t>
            </a:r>
            <a:r>
              <a:rPr lang="en-US" dirty="0" err="1"/>
              <a:t>tu</a:t>
            </a:r>
            <a:r>
              <a:rPr lang="en-US" dirty="0"/>
              <a:t> </a:t>
            </a:r>
            <a:r>
              <a:rPr lang="en-US" dirty="0" err="1"/>
              <a:t>produk</a:t>
            </a:r>
            <a:r>
              <a:rPr lang="en-US" dirty="0"/>
              <a:t> </a:t>
            </a:r>
            <a:r>
              <a:rPr lang="tr-TR" dirty="0"/>
              <a:t>a</a:t>
            </a:r>
            <a:r>
              <a:rPr lang="en-US" dirty="0"/>
              <a:t>t</a:t>
            </a:r>
            <a:r>
              <a:rPr lang="tr-TR" dirty="0"/>
              <a:t>a</a:t>
            </a:r>
            <a:r>
              <a:rPr lang="en-US" dirty="0"/>
              <a:t>u j</a:t>
            </a:r>
            <a:r>
              <a:rPr lang="tr-TR" dirty="0"/>
              <a:t>a</a:t>
            </a:r>
            <a:r>
              <a:rPr lang="en-US" dirty="0"/>
              <a:t>s</a:t>
            </a:r>
            <a:r>
              <a:rPr lang="tr-TR" dirty="0"/>
              <a:t>a</a:t>
            </a:r>
            <a:r>
              <a:rPr lang="en-US" dirty="0"/>
              <a:t> y</a:t>
            </a:r>
            <a:r>
              <a:rPr lang="tr-TR" dirty="0"/>
              <a:t>a</a:t>
            </a:r>
            <a:r>
              <a:rPr lang="en-US" dirty="0" err="1"/>
              <a:t>ng</a:t>
            </a:r>
            <a:r>
              <a:rPr lang="en-US" dirty="0"/>
              <a:t> </a:t>
            </a:r>
            <a:r>
              <a:rPr lang="en-US" dirty="0" err="1"/>
              <a:t>unik</a:t>
            </a:r>
            <a:r>
              <a:rPr lang="en-US" dirty="0"/>
              <a:t> (PMBOK).</a:t>
            </a:r>
          </a:p>
          <a:p>
            <a:r>
              <a:rPr lang="en-US" dirty="0" err="1">
                <a:effectLst/>
              </a:rPr>
              <a:t>Ciri-ciri</a:t>
            </a:r>
            <a:r>
              <a:rPr lang="en-US" dirty="0">
                <a:effectLst/>
              </a:rPr>
              <a:t> </a:t>
            </a:r>
            <a:r>
              <a:rPr lang="en-US" dirty="0" err="1">
                <a:effectLst/>
              </a:rPr>
              <a:t>proyek</a:t>
            </a:r>
            <a:r>
              <a:rPr lang="en-US" dirty="0">
                <a:effectLst/>
              </a:rPr>
              <a:t>:</a:t>
            </a:r>
          </a:p>
          <a:p>
            <a:pPr lvl="1"/>
            <a:r>
              <a:rPr lang="en-US" dirty="0" err="1"/>
              <a:t>Bertuju</a:t>
            </a:r>
            <a:r>
              <a:rPr lang="tr-TR" dirty="0"/>
              <a:t>a</a:t>
            </a:r>
            <a:r>
              <a:rPr lang="en-US" dirty="0"/>
              <a:t>n  </a:t>
            </a:r>
            <a:r>
              <a:rPr lang="en-US" dirty="0" err="1"/>
              <a:t>mengh</a:t>
            </a:r>
            <a:r>
              <a:rPr lang="tr-TR" dirty="0"/>
              <a:t>a</a:t>
            </a:r>
            <a:r>
              <a:rPr lang="en-US" dirty="0"/>
              <a:t>silk</a:t>
            </a:r>
            <a:r>
              <a:rPr lang="tr-TR" dirty="0"/>
              <a:t>a</a:t>
            </a:r>
            <a:r>
              <a:rPr lang="en-US" dirty="0"/>
              <a:t>n </a:t>
            </a:r>
            <a:r>
              <a:rPr lang="en-US" dirty="0" err="1"/>
              <a:t>lingkup</a:t>
            </a:r>
            <a:r>
              <a:rPr lang="en-US" dirty="0"/>
              <a:t> </a:t>
            </a:r>
            <a:r>
              <a:rPr lang="en-US" dirty="0" err="1"/>
              <a:t>tertentu</a:t>
            </a:r>
            <a:r>
              <a:rPr lang="en-US" dirty="0"/>
              <a:t> </a:t>
            </a:r>
            <a:r>
              <a:rPr lang="en-US" dirty="0" err="1"/>
              <a:t>berup</a:t>
            </a:r>
            <a:r>
              <a:rPr lang="tr-TR" dirty="0"/>
              <a:t>a</a:t>
            </a:r>
            <a:r>
              <a:rPr lang="en-US" dirty="0"/>
              <a:t> </a:t>
            </a:r>
            <a:r>
              <a:rPr lang="en-US" dirty="0" err="1"/>
              <a:t>produk</a:t>
            </a:r>
            <a:r>
              <a:rPr lang="en-US" dirty="0"/>
              <a:t> </a:t>
            </a:r>
            <a:r>
              <a:rPr lang="tr-TR" dirty="0"/>
              <a:t>a</a:t>
            </a:r>
            <a:r>
              <a:rPr lang="en-US" dirty="0" err="1"/>
              <a:t>khir</a:t>
            </a:r>
            <a:r>
              <a:rPr lang="en-US" dirty="0"/>
              <a:t> </a:t>
            </a:r>
            <a:r>
              <a:rPr lang="tr-TR" dirty="0"/>
              <a:t>a</a:t>
            </a:r>
            <a:r>
              <a:rPr lang="en-US" dirty="0"/>
              <a:t>t</a:t>
            </a:r>
            <a:r>
              <a:rPr lang="tr-TR" dirty="0"/>
              <a:t>a</a:t>
            </a:r>
            <a:r>
              <a:rPr lang="en-US" dirty="0"/>
              <a:t>u j</a:t>
            </a:r>
            <a:r>
              <a:rPr lang="tr-TR" dirty="0"/>
              <a:t>a</a:t>
            </a:r>
            <a:r>
              <a:rPr lang="en-US" dirty="0"/>
              <a:t>s</a:t>
            </a:r>
            <a:r>
              <a:rPr lang="tr-TR" dirty="0"/>
              <a:t>a</a:t>
            </a:r>
            <a:endParaRPr lang="en-US" dirty="0"/>
          </a:p>
          <a:p>
            <a:pPr lvl="1"/>
            <a:r>
              <a:rPr lang="en-US" dirty="0" err="1">
                <a:effectLst/>
              </a:rPr>
              <a:t>Terd</a:t>
            </a:r>
            <a:r>
              <a:rPr lang="tr-TR" dirty="0"/>
              <a:t>a</a:t>
            </a:r>
            <a:r>
              <a:rPr lang="en-US" dirty="0"/>
              <a:t>p</a:t>
            </a:r>
            <a:r>
              <a:rPr lang="tr-TR" dirty="0"/>
              <a:t>a</a:t>
            </a:r>
            <a:r>
              <a:rPr lang="en-US" dirty="0"/>
              <a:t>t </a:t>
            </a:r>
            <a:r>
              <a:rPr lang="en-US" dirty="0" err="1"/>
              <a:t>penentu</a:t>
            </a:r>
            <a:r>
              <a:rPr lang="tr-TR" dirty="0"/>
              <a:t>a</a:t>
            </a:r>
            <a:r>
              <a:rPr lang="en-US" dirty="0"/>
              <a:t>n bi</a:t>
            </a:r>
            <a:r>
              <a:rPr lang="tr-TR" dirty="0"/>
              <a:t>a</a:t>
            </a:r>
            <a:r>
              <a:rPr lang="en-US" dirty="0"/>
              <a:t>y</a:t>
            </a:r>
            <a:r>
              <a:rPr lang="tr-TR" dirty="0"/>
              <a:t>a</a:t>
            </a:r>
            <a:r>
              <a:rPr lang="en-US" dirty="0"/>
              <a:t>, j</a:t>
            </a:r>
            <a:r>
              <a:rPr lang="tr-TR" dirty="0"/>
              <a:t>a</a:t>
            </a:r>
            <a:r>
              <a:rPr lang="en-US" dirty="0" err="1"/>
              <a:t>dw</a:t>
            </a:r>
            <a:r>
              <a:rPr lang="tr-TR" dirty="0"/>
              <a:t>a</a:t>
            </a:r>
            <a:r>
              <a:rPr lang="en-US" dirty="0"/>
              <a:t>l, </a:t>
            </a:r>
            <a:r>
              <a:rPr lang="en-US" dirty="0" err="1"/>
              <a:t>ku</a:t>
            </a:r>
            <a:r>
              <a:rPr lang="tr-TR" dirty="0"/>
              <a:t>a</a:t>
            </a:r>
            <a:r>
              <a:rPr lang="en-US" dirty="0"/>
              <a:t>lit</a:t>
            </a:r>
            <a:r>
              <a:rPr lang="tr-TR" dirty="0"/>
              <a:t>a</a:t>
            </a:r>
            <a:r>
              <a:rPr lang="en-US" dirty="0"/>
              <a:t>s, SDM</a:t>
            </a:r>
          </a:p>
          <a:p>
            <a:pPr lvl="1"/>
            <a:r>
              <a:rPr lang="en-US" dirty="0" err="1">
                <a:effectLst/>
              </a:rPr>
              <a:t>Bersif</a:t>
            </a:r>
            <a:r>
              <a:rPr lang="tr-TR" dirty="0"/>
              <a:t>a</a:t>
            </a:r>
            <a:r>
              <a:rPr lang="en-US" dirty="0"/>
              <a:t>t </a:t>
            </a:r>
            <a:r>
              <a:rPr lang="en-US" dirty="0" err="1"/>
              <a:t>sement</a:t>
            </a:r>
            <a:r>
              <a:rPr lang="tr-TR" dirty="0"/>
              <a:t>a</a:t>
            </a:r>
            <a:r>
              <a:rPr lang="en-US" dirty="0"/>
              <a:t>r</a:t>
            </a:r>
            <a:r>
              <a:rPr lang="tr-TR" dirty="0"/>
              <a:t>a</a:t>
            </a:r>
            <a:r>
              <a:rPr lang="en-US" dirty="0"/>
              <a:t>, </a:t>
            </a:r>
            <a:r>
              <a:rPr lang="en-US" dirty="0" err="1"/>
              <a:t>titik</a:t>
            </a:r>
            <a:r>
              <a:rPr lang="en-US" dirty="0"/>
              <a:t> </a:t>
            </a:r>
            <a:r>
              <a:rPr lang="tr-TR" dirty="0"/>
              <a:t>a</a:t>
            </a:r>
            <a:r>
              <a:rPr lang="en-US" dirty="0"/>
              <a:t>w</a:t>
            </a:r>
            <a:r>
              <a:rPr lang="tr-TR" dirty="0"/>
              <a:t>a</a:t>
            </a:r>
            <a:r>
              <a:rPr lang="en-US" dirty="0"/>
              <a:t>l d</a:t>
            </a:r>
            <a:r>
              <a:rPr lang="tr-TR" dirty="0"/>
              <a:t>a</a:t>
            </a:r>
            <a:r>
              <a:rPr lang="en-US" dirty="0"/>
              <a:t>n </a:t>
            </a:r>
            <a:r>
              <a:rPr lang="tr-TR" dirty="0"/>
              <a:t>a</a:t>
            </a:r>
            <a:r>
              <a:rPr lang="en-US" dirty="0" err="1"/>
              <a:t>khir</a:t>
            </a:r>
            <a:r>
              <a:rPr lang="en-US" dirty="0"/>
              <a:t> </a:t>
            </a:r>
            <a:r>
              <a:rPr lang="en-US" dirty="0" err="1"/>
              <a:t>jel</a:t>
            </a:r>
            <a:r>
              <a:rPr lang="tr-TR" dirty="0"/>
              <a:t>a</a:t>
            </a:r>
            <a:r>
              <a:rPr lang="en-US" dirty="0"/>
              <a:t>s</a:t>
            </a:r>
          </a:p>
          <a:p>
            <a:pPr lvl="1"/>
            <a:r>
              <a:rPr lang="en-US" dirty="0" err="1">
                <a:effectLst/>
              </a:rPr>
              <a:t>Tid</a:t>
            </a:r>
            <a:r>
              <a:rPr lang="tr-TR" dirty="0"/>
              <a:t>a</a:t>
            </a:r>
            <a:r>
              <a:rPr lang="en-US" dirty="0"/>
              <a:t>k </a:t>
            </a:r>
            <a:r>
              <a:rPr lang="en-US" dirty="0" err="1"/>
              <a:t>berul</a:t>
            </a:r>
            <a:r>
              <a:rPr lang="tr-TR" dirty="0"/>
              <a:t>a</a:t>
            </a:r>
            <a:r>
              <a:rPr lang="en-US" dirty="0" err="1"/>
              <a:t>ng</a:t>
            </a:r>
            <a:endParaRPr lang="en-US" dirty="0"/>
          </a:p>
          <a:p>
            <a:r>
              <a:rPr lang="en-US" dirty="0" err="1">
                <a:effectLst/>
              </a:rPr>
              <a:t>Bentuk</a:t>
            </a:r>
            <a:r>
              <a:rPr lang="en-US" dirty="0">
                <a:effectLst/>
              </a:rPr>
              <a:t> </a:t>
            </a:r>
            <a:r>
              <a:rPr lang="en-US" dirty="0" err="1">
                <a:effectLst/>
              </a:rPr>
              <a:t>Pengerj</a:t>
            </a:r>
            <a:r>
              <a:rPr lang="tr-TR" dirty="0"/>
              <a:t>aa</a:t>
            </a:r>
            <a:r>
              <a:rPr lang="en-US" dirty="0"/>
              <a:t>n </a:t>
            </a:r>
            <a:r>
              <a:rPr lang="en-US" dirty="0" err="1"/>
              <a:t>Proyek</a:t>
            </a:r>
            <a:r>
              <a:rPr lang="en-US" dirty="0"/>
              <a:t>:</a:t>
            </a:r>
          </a:p>
          <a:p>
            <a:pPr lvl="1"/>
            <a:r>
              <a:rPr lang="en-US" dirty="0" err="1">
                <a:effectLst/>
              </a:rPr>
              <a:t>Sw</a:t>
            </a:r>
            <a:r>
              <a:rPr lang="tr-TR" dirty="0"/>
              <a:t>a</a:t>
            </a:r>
            <a:r>
              <a:rPr lang="en-US" dirty="0" err="1"/>
              <a:t>kelol</a:t>
            </a:r>
            <a:r>
              <a:rPr lang="tr-TR" dirty="0"/>
              <a:t>a</a:t>
            </a:r>
            <a:endParaRPr lang="en-US" dirty="0"/>
          </a:p>
          <a:p>
            <a:pPr lvl="1"/>
            <a:r>
              <a:rPr lang="en-US" dirty="0">
                <a:effectLst/>
              </a:rPr>
              <a:t>Sub-</a:t>
            </a:r>
            <a:r>
              <a:rPr lang="en-US" dirty="0" err="1">
                <a:effectLst/>
              </a:rPr>
              <a:t>kontr</a:t>
            </a:r>
            <a:r>
              <a:rPr lang="tr-TR" dirty="0"/>
              <a:t>a</a:t>
            </a:r>
            <a:r>
              <a:rPr lang="en-US" dirty="0"/>
              <a:t>k </a:t>
            </a:r>
            <a:endParaRPr lang="tr-TR" dirty="0">
              <a:effectLst/>
            </a:endParaRPr>
          </a:p>
          <a:p>
            <a:pPr marL="0" indent="0">
              <a:buNone/>
            </a:pPr>
            <a:endParaRPr lang="en-US" dirty="0"/>
          </a:p>
        </p:txBody>
      </p:sp>
    </p:spTree>
    <p:extLst>
      <p:ext uri="{BB962C8B-B14F-4D97-AF65-F5344CB8AC3E}">
        <p14:creationId xmlns:p14="http://schemas.microsoft.com/office/powerpoint/2010/main" val="1056296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dissolv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dissolv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dissolv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dissolv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dissolv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dissolv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dissolv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dissolv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dissolve">
                                      <p:cBhvr>
                                        <p:cTn id="5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Results</a:t>
            </a:r>
          </a:p>
        </p:txBody>
      </p:sp>
      <p:sp>
        <p:nvSpPr>
          <p:cNvPr id="3" name="Content Placeholder 2"/>
          <p:cNvSpPr>
            <a:spLocks noGrp="1"/>
          </p:cNvSpPr>
          <p:nvPr>
            <p:ph idx="1"/>
          </p:nvPr>
        </p:nvSpPr>
        <p:spPr/>
        <p:txBody>
          <a:bodyPr>
            <a:normAutofit fontScale="85000" lnSpcReduction="20000"/>
          </a:bodyPr>
          <a:lstStyle/>
          <a:p>
            <a:r>
              <a:rPr lang="en-US" dirty="0"/>
              <a:t>A product that can be either a component of another item, an enhancement of an item, or an end item in itself;</a:t>
            </a:r>
          </a:p>
          <a:p>
            <a:r>
              <a:rPr lang="en-US" dirty="0"/>
              <a:t>A service or a capability to perform a service (e.g., a business function that supports production or distribution);</a:t>
            </a:r>
          </a:p>
          <a:p>
            <a:r>
              <a:rPr lang="en-US" dirty="0"/>
              <a:t>An improvement in the existing product or service lines (e.g., A Six Sigma project undertaken to reduce defects); or</a:t>
            </a:r>
          </a:p>
          <a:p>
            <a:r>
              <a:rPr lang="en-US" dirty="0"/>
              <a:t>A result, such as an outcome or document (e.g., a research project that develops knowledge that can be used to determine whether a trend exists or a new process will benefit society).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Portfolio, Program, and Project Management Interactions</a:t>
            </a:r>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1462017" y="1600200"/>
            <a:ext cx="6629400" cy="48006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Life Cycle IT Project</a:t>
            </a:r>
          </a:p>
        </p:txBody>
      </p:sp>
      <p:sp>
        <p:nvSpPr>
          <p:cNvPr id="3" name="Content Placeholder 2"/>
          <p:cNvSpPr>
            <a:spLocks noGrp="1"/>
          </p:cNvSpPr>
          <p:nvPr>
            <p:ph idx="1"/>
          </p:nvPr>
        </p:nvSpPr>
        <p:spPr/>
        <p:txBody>
          <a:bodyPr/>
          <a:lstStyle/>
          <a:p>
            <a:r>
              <a:rPr lang="en-US" dirty="0"/>
              <a:t>Discovery ph</a:t>
            </a:r>
            <a:r>
              <a:rPr lang="hu-HU" dirty="0"/>
              <a:t>a</a:t>
            </a:r>
            <a:r>
              <a:rPr lang="en-US" dirty="0"/>
              <a:t>se</a:t>
            </a:r>
          </a:p>
          <a:p>
            <a:r>
              <a:rPr lang="en-US" dirty="0"/>
              <a:t>Concept ph</a:t>
            </a:r>
            <a:r>
              <a:rPr lang="hu-HU" dirty="0"/>
              <a:t>a</a:t>
            </a:r>
            <a:r>
              <a:rPr lang="en-US" dirty="0"/>
              <a:t>se</a:t>
            </a:r>
          </a:p>
          <a:p>
            <a:r>
              <a:rPr lang="en-US" dirty="0"/>
              <a:t>Design ph</a:t>
            </a:r>
            <a:r>
              <a:rPr lang="hu-HU" dirty="0"/>
              <a:t>a</a:t>
            </a:r>
            <a:r>
              <a:rPr lang="en-US" dirty="0"/>
              <a:t>se</a:t>
            </a:r>
          </a:p>
          <a:p>
            <a:r>
              <a:rPr lang="en-US" dirty="0"/>
              <a:t>Execution ph</a:t>
            </a:r>
            <a:r>
              <a:rPr lang="hu-HU" dirty="0"/>
              <a:t>a</a:t>
            </a:r>
            <a:r>
              <a:rPr lang="en-US" dirty="0"/>
              <a:t>se</a:t>
            </a:r>
          </a:p>
          <a:p>
            <a:r>
              <a:rPr lang="en-US" dirty="0" err="1"/>
              <a:t>Qu</a:t>
            </a:r>
            <a:r>
              <a:rPr lang="hu-HU" dirty="0"/>
              <a:t>a</a:t>
            </a:r>
            <a:r>
              <a:rPr lang="en-US" dirty="0" err="1"/>
              <a:t>lity</a:t>
            </a:r>
            <a:r>
              <a:rPr lang="en-US" dirty="0"/>
              <a:t> </a:t>
            </a:r>
            <a:r>
              <a:rPr lang="hu-HU" dirty="0"/>
              <a:t>a</a:t>
            </a:r>
            <a:r>
              <a:rPr lang="en-US" dirty="0" err="1"/>
              <a:t>ssur</a:t>
            </a:r>
            <a:r>
              <a:rPr lang="hu-HU" dirty="0"/>
              <a:t>a</a:t>
            </a:r>
            <a:r>
              <a:rPr lang="en-US" dirty="0" err="1"/>
              <a:t>nce</a:t>
            </a:r>
            <a:r>
              <a:rPr lang="en-US" dirty="0"/>
              <a:t> ph</a:t>
            </a:r>
            <a:r>
              <a:rPr lang="hu-HU" dirty="0"/>
              <a:t>a</a:t>
            </a:r>
            <a:r>
              <a:rPr lang="en-US" dirty="0"/>
              <a:t>se</a:t>
            </a:r>
          </a:p>
          <a:p>
            <a:r>
              <a:rPr lang="en-US" dirty="0"/>
              <a:t>Implement</a:t>
            </a:r>
            <a:r>
              <a:rPr lang="hu-HU" dirty="0"/>
              <a:t>a</a:t>
            </a:r>
            <a:r>
              <a:rPr lang="en-US" dirty="0" err="1"/>
              <a:t>tion</a:t>
            </a:r>
            <a:r>
              <a:rPr lang="en-US" dirty="0"/>
              <a:t> ph</a:t>
            </a:r>
            <a:r>
              <a:rPr lang="hu-HU" dirty="0"/>
              <a:t>a</a:t>
            </a:r>
            <a:r>
              <a:rPr lang="en-US" dirty="0"/>
              <a:t>se</a:t>
            </a:r>
          </a:p>
          <a:p>
            <a:r>
              <a:rPr lang="en-US" dirty="0"/>
              <a:t>Closure ph</a:t>
            </a:r>
            <a:r>
              <a:rPr lang="hu-HU" dirty="0"/>
              <a:t>a</a:t>
            </a:r>
            <a:r>
              <a:rPr lang="en-US" dirty="0"/>
              <a:t>se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Penyeb</a:t>
            </a:r>
            <a:r>
              <a:rPr lang="hu-HU" dirty="0"/>
              <a:t>a</a:t>
            </a:r>
            <a:r>
              <a:rPr lang="en-US" dirty="0"/>
              <a:t>b </a:t>
            </a:r>
            <a:r>
              <a:rPr lang="en-US" dirty="0" err="1"/>
              <a:t>Timbulny</a:t>
            </a:r>
            <a:r>
              <a:rPr lang="hu-HU" dirty="0"/>
              <a:t>a</a:t>
            </a:r>
            <a:r>
              <a:rPr lang="en-US" dirty="0"/>
              <a:t> </a:t>
            </a:r>
            <a:r>
              <a:rPr lang="en-US" dirty="0" err="1"/>
              <a:t>Proyek</a:t>
            </a:r>
            <a:endParaRPr lang="en-US" dirty="0"/>
          </a:p>
        </p:txBody>
      </p:sp>
      <p:sp>
        <p:nvSpPr>
          <p:cNvPr id="3" name="Content Placeholder 2"/>
          <p:cNvSpPr>
            <a:spLocks noGrp="1"/>
          </p:cNvSpPr>
          <p:nvPr>
            <p:ph idx="1"/>
          </p:nvPr>
        </p:nvSpPr>
        <p:spPr/>
        <p:txBody>
          <a:bodyPr/>
          <a:lstStyle/>
          <a:p>
            <a:r>
              <a:rPr lang="en-US" dirty="0" err="1"/>
              <a:t>Renc</a:t>
            </a:r>
            <a:r>
              <a:rPr lang="hu-HU" dirty="0"/>
              <a:t>a</a:t>
            </a:r>
            <a:r>
              <a:rPr lang="en-US" dirty="0"/>
              <a:t>n</a:t>
            </a:r>
            <a:r>
              <a:rPr lang="hu-HU" dirty="0"/>
              <a:t>a</a:t>
            </a:r>
            <a:r>
              <a:rPr lang="en-US" dirty="0"/>
              <a:t> </a:t>
            </a:r>
            <a:r>
              <a:rPr lang="en-US" dirty="0" err="1"/>
              <a:t>pemerint</a:t>
            </a:r>
            <a:r>
              <a:rPr lang="hu-HU" dirty="0"/>
              <a:t>a</a:t>
            </a:r>
            <a:r>
              <a:rPr lang="en-US" dirty="0"/>
              <a:t>h</a:t>
            </a:r>
          </a:p>
          <a:p>
            <a:r>
              <a:rPr lang="en-US" dirty="0" err="1"/>
              <a:t>Permint</a:t>
            </a:r>
            <a:r>
              <a:rPr lang="hu-HU" dirty="0"/>
              <a:t>aa</a:t>
            </a:r>
            <a:r>
              <a:rPr lang="en-US" dirty="0"/>
              <a:t>n p</a:t>
            </a:r>
            <a:r>
              <a:rPr lang="hu-HU" dirty="0"/>
              <a:t>a</a:t>
            </a:r>
            <a:r>
              <a:rPr lang="en-US" dirty="0"/>
              <a:t>s</a:t>
            </a:r>
            <a:r>
              <a:rPr lang="hu-HU" dirty="0"/>
              <a:t>a</a:t>
            </a:r>
            <a:r>
              <a:rPr lang="en-US" dirty="0"/>
              <a:t>r</a:t>
            </a:r>
          </a:p>
          <a:p>
            <a:r>
              <a:rPr lang="en-US" dirty="0" err="1"/>
              <a:t>Kebutuh</a:t>
            </a:r>
            <a:r>
              <a:rPr lang="hu-HU" dirty="0"/>
              <a:t>a</a:t>
            </a:r>
            <a:r>
              <a:rPr lang="en-US" dirty="0"/>
              <a:t>n intern</a:t>
            </a:r>
            <a:r>
              <a:rPr lang="hu-HU" dirty="0"/>
              <a:t>a</a:t>
            </a:r>
            <a:r>
              <a:rPr lang="en-US" dirty="0"/>
              <a:t>l org</a:t>
            </a:r>
            <a:r>
              <a:rPr lang="hu-HU" dirty="0"/>
              <a:t>a</a:t>
            </a:r>
            <a:r>
              <a:rPr lang="en-US" dirty="0" err="1"/>
              <a:t>nis</a:t>
            </a:r>
            <a:r>
              <a:rPr lang="hu-HU" dirty="0"/>
              <a:t>a</a:t>
            </a:r>
            <a:r>
              <a:rPr lang="en-US" dirty="0" err="1"/>
              <a:t>si</a:t>
            </a:r>
            <a:endParaRPr lang="en-US" dirty="0"/>
          </a:p>
          <a:p>
            <a:r>
              <a:rPr lang="en-US" dirty="0" err="1"/>
              <a:t>Kegi</a:t>
            </a:r>
            <a:r>
              <a:rPr lang="hu-HU" dirty="0"/>
              <a:t>a</a:t>
            </a:r>
            <a:r>
              <a:rPr lang="en-US" dirty="0"/>
              <a:t>t</a:t>
            </a:r>
            <a:r>
              <a:rPr lang="hu-HU" dirty="0"/>
              <a:t>a</a:t>
            </a:r>
            <a:r>
              <a:rPr lang="en-US" dirty="0"/>
              <a:t>n R&amp;D </a:t>
            </a:r>
            <a:r>
              <a:rPr lang="en-US" dirty="0" err="1"/>
              <a:t>untuk</a:t>
            </a:r>
            <a:r>
              <a:rPr lang="en-US" dirty="0"/>
              <a:t> </a:t>
            </a:r>
            <a:r>
              <a:rPr lang="en-US" dirty="0" err="1"/>
              <a:t>inov</a:t>
            </a:r>
            <a:r>
              <a:rPr lang="hu-HU" dirty="0"/>
              <a:t>a</a:t>
            </a:r>
            <a:r>
              <a:rPr lang="en-US" dirty="0" err="1"/>
              <a:t>si</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t>
            </a:r>
            <a:r>
              <a:rPr lang="hu-HU" dirty="0"/>
              <a:t>a</a:t>
            </a:r>
            <a:r>
              <a:rPr lang="en-US" dirty="0" err="1"/>
              <a:t>ktor</a:t>
            </a:r>
            <a:r>
              <a:rPr lang="en-US" dirty="0"/>
              <a:t> </a:t>
            </a:r>
            <a:r>
              <a:rPr lang="en-US" dirty="0" err="1"/>
              <a:t>Keberh</a:t>
            </a:r>
            <a:r>
              <a:rPr lang="hu-HU" dirty="0"/>
              <a:t>a</a:t>
            </a:r>
            <a:r>
              <a:rPr lang="en-US" dirty="0" err="1"/>
              <a:t>sil</a:t>
            </a:r>
            <a:r>
              <a:rPr lang="hu-HU" dirty="0"/>
              <a:t>a</a:t>
            </a:r>
            <a:r>
              <a:rPr lang="en-US" dirty="0"/>
              <a:t>n </a:t>
            </a:r>
            <a:r>
              <a:rPr lang="en-US" dirty="0" err="1"/>
              <a:t>Proyek</a:t>
            </a:r>
            <a:endParaRPr lang="en-US" dirty="0"/>
          </a:p>
        </p:txBody>
      </p:sp>
      <p:sp>
        <p:nvSpPr>
          <p:cNvPr id="3" name="Content Placeholder 2"/>
          <p:cNvSpPr>
            <a:spLocks noGrp="1"/>
          </p:cNvSpPr>
          <p:nvPr>
            <p:ph idx="1"/>
          </p:nvPr>
        </p:nvSpPr>
        <p:spPr/>
        <p:txBody>
          <a:bodyPr/>
          <a:lstStyle/>
          <a:p>
            <a:r>
              <a:rPr lang="en-US" dirty="0" err="1"/>
              <a:t>Proyek</a:t>
            </a:r>
            <a:r>
              <a:rPr lang="en-US" dirty="0"/>
              <a:t> </a:t>
            </a:r>
            <a:r>
              <a:rPr lang="en-US" dirty="0" err="1"/>
              <a:t>dikelol</a:t>
            </a:r>
            <a:r>
              <a:rPr lang="hu-HU" dirty="0"/>
              <a:t>a</a:t>
            </a:r>
            <a:r>
              <a:rPr lang="en-US" dirty="0"/>
              <a:t> </a:t>
            </a:r>
            <a:r>
              <a:rPr lang="en-US" dirty="0" err="1"/>
              <a:t>mel</a:t>
            </a:r>
            <a:r>
              <a:rPr lang="hu-HU" dirty="0"/>
              <a:t>a</a:t>
            </a:r>
            <a:r>
              <a:rPr lang="en-US" dirty="0" err="1"/>
              <a:t>lui</a:t>
            </a:r>
            <a:r>
              <a:rPr lang="en-US" dirty="0"/>
              <a:t> </a:t>
            </a:r>
            <a:r>
              <a:rPr lang="en-US" dirty="0" err="1"/>
              <a:t>mek</a:t>
            </a:r>
            <a:r>
              <a:rPr lang="hu-HU" dirty="0"/>
              <a:t>a</a:t>
            </a:r>
            <a:r>
              <a:rPr lang="en-US" dirty="0" err="1"/>
              <a:t>nisme</a:t>
            </a:r>
            <a:r>
              <a:rPr lang="en-US" dirty="0"/>
              <a:t> life-cycle project</a:t>
            </a:r>
          </a:p>
          <a:p>
            <a:r>
              <a:rPr lang="en-US" dirty="0"/>
              <a:t>Mel</a:t>
            </a:r>
            <a:r>
              <a:rPr lang="hu-HU" dirty="0"/>
              <a:t>a</a:t>
            </a:r>
            <a:r>
              <a:rPr lang="en-US" dirty="0" err="1"/>
              <a:t>kuk</a:t>
            </a:r>
            <a:r>
              <a:rPr lang="hu-HU" dirty="0"/>
              <a:t>a</a:t>
            </a:r>
            <a:r>
              <a:rPr lang="en-US" dirty="0"/>
              <a:t>n monitoring d</a:t>
            </a:r>
            <a:r>
              <a:rPr lang="hu-HU" dirty="0"/>
              <a:t>a</a:t>
            </a:r>
            <a:r>
              <a:rPr lang="en-US" dirty="0"/>
              <a:t>n </a:t>
            </a:r>
            <a:r>
              <a:rPr lang="en-US" dirty="0" err="1"/>
              <a:t>pengontrol</a:t>
            </a:r>
            <a:r>
              <a:rPr lang="hu-HU" dirty="0"/>
              <a:t>a</a:t>
            </a:r>
            <a:r>
              <a:rPr lang="en-US" dirty="0"/>
              <a:t>n </a:t>
            </a:r>
            <a:r>
              <a:rPr lang="en-US" dirty="0" err="1"/>
              <a:t>terh</a:t>
            </a:r>
            <a:r>
              <a:rPr lang="hu-HU" dirty="0"/>
              <a:t>a</a:t>
            </a:r>
            <a:r>
              <a:rPr lang="en-US" dirty="0"/>
              <a:t>d</a:t>
            </a:r>
            <a:r>
              <a:rPr lang="hu-HU" dirty="0"/>
              <a:t>a</a:t>
            </a:r>
            <a:r>
              <a:rPr lang="en-US" dirty="0"/>
              <a:t>p j</a:t>
            </a:r>
            <a:r>
              <a:rPr lang="hu-HU" dirty="0"/>
              <a:t>a</a:t>
            </a:r>
            <a:r>
              <a:rPr lang="en-US" dirty="0" err="1"/>
              <a:t>dw</a:t>
            </a:r>
            <a:r>
              <a:rPr lang="hu-HU" dirty="0"/>
              <a:t>a</a:t>
            </a:r>
            <a:r>
              <a:rPr lang="en-US" dirty="0"/>
              <a:t>l, </a:t>
            </a:r>
            <a:r>
              <a:rPr lang="hu-HU" dirty="0"/>
              <a:t>a</a:t>
            </a:r>
            <a:r>
              <a:rPr lang="en-US" dirty="0" err="1"/>
              <a:t>ngg</a:t>
            </a:r>
            <a:r>
              <a:rPr lang="hu-HU" dirty="0"/>
              <a:t>a</a:t>
            </a:r>
            <a:r>
              <a:rPr lang="en-US" dirty="0"/>
              <a:t>r</a:t>
            </a:r>
            <a:r>
              <a:rPr lang="hu-HU" dirty="0"/>
              <a:t>a</a:t>
            </a:r>
            <a:r>
              <a:rPr lang="en-US" dirty="0"/>
              <a:t>n, </a:t>
            </a:r>
            <a:r>
              <a:rPr lang="en-US" dirty="0" err="1"/>
              <a:t>ku</a:t>
            </a:r>
            <a:r>
              <a:rPr lang="hu-HU" dirty="0"/>
              <a:t>a</a:t>
            </a:r>
            <a:r>
              <a:rPr lang="en-US" dirty="0"/>
              <a:t>lit</a:t>
            </a:r>
            <a:r>
              <a:rPr lang="hu-HU" dirty="0"/>
              <a:t>a</a:t>
            </a:r>
            <a:r>
              <a:rPr lang="en-US" dirty="0"/>
              <a:t>s, d</a:t>
            </a:r>
            <a:r>
              <a:rPr lang="hu-HU" dirty="0"/>
              <a:t>a</a:t>
            </a:r>
            <a:r>
              <a:rPr lang="en-US" dirty="0"/>
              <a:t>n </a:t>
            </a:r>
            <a:r>
              <a:rPr lang="en-US" dirty="0" err="1"/>
              <a:t>resiko</a:t>
            </a:r>
            <a:r>
              <a:rPr lang="en-US" dirty="0"/>
              <a:t> </a:t>
            </a:r>
            <a:r>
              <a:rPr lang="en-US" dirty="0" err="1"/>
              <a:t>proyek</a:t>
            </a:r>
            <a:endParaRPr lang="en-US" dirty="0"/>
          </a:p>
          <a:p>
            <a:r>
              <a:rPr lang="en-US" dirty="0" err="1"/>
              <a:t>Mem</a:t>
            </a:r>
            <a:r>
              <a:rPr lang="hu-HU" dirty="0"/>
              <a:t>a</a:t>
            </a:r>
            <a:r>
              <a:rPr lang="en-US" dirty="0" err="1"/>
              <a:t>duk</a:t>
            </a:r>
            <a:r>
              <a:rPr lang="hu-HU" dirty="0"/>
              <a:t>a</a:t>
            </a:r>
            <a:r>
              <a:rPr lang="en-US" dirty="0"/>
              <a:t>n tools d</a:t>
            </a:r>
            <a:r>
              <a:rPr lang="hu-HU" dirty="0"/>
              <a:t>a</a:t>
            </a:r>
            <a:r>
              <a:rPr lang="en-US" dirty="0"/>
              <a:t>n </a:t>
            </a:r>
            <a:r>
              <a:rPr lang="en-US" dirty="0" err="1"/>
              <a:t>metode</a:t>
            </a:r>
            <a:r>
              <a:rPr lang="en-US" dirty="0"/>
              <a:t> m</a:t>
            </a:r>
            <a:r>
              <a:rPr lang="hu-HU" dirty="0"/>
              <a:t>a</a:t>
            </a:r>
            <a:r>
              <a:rPr lang="en-US" dirty="0"/>
              <a:t>n</a:t>
            </a:r>
            <a:r>
              <a:rPr lang="hu-HU" dirty="0"/>
              <a:t>a</a:t>
            </a:r>
            <a:r>
              <a:rPr lang="en-US" dirty="0" err="1"/>
              <a:t>jemen</a:t>
            </a:r>
            <a:r>
              <a:rPr lang="en-US" dirty="0"/>
              <a:t> </a:t>
            </a:r>
            <a:r>
              <a:rPr lang="en-US" dirty="0" err="1"/>
              <a:t>proyek</a:t>
            </a:r>
            <a:r>
              <a:rPr lang="en-US" dirty="0"/>
              <a:t> </a:t>
            </a:r>
            <a:r>
              <a:rPr lang="en-US" dirty="0" err="1"/>
              <a:t>untuk</a:t>
            </a:r>
            <a:r>
              <a:rPr lang="en-US" dirty="0"/>
              <a:t> </a:t>
            </a:r>
            <a:r>
              <a:rPr lang="en-US" dirty="0" err="1"/>
              <a:t>meningk</a:t>
            </a:r>
            <a:r>
              <a:rPr lang="hu-HU" dirty="0"/>
              <a:t>a</a:t>
            </a:r>
            <a:r>
              <a:rPr lang="en-US" dirty="0" err="1"/>
              <a:t>tk</a:t>
            </a:r>
            <a:r>
              <a:rPr lang="hu-HU" dirty="0"/>
              <a:t>a</a:t>
            </a:r>
            <a:r>
              <a:rPr lang="en-US" dirty="0"/>
              <a:t>n </a:t>
            </a:r>
            <a:r>
              <a:rPr lang="en-US" dirty="0" err="1"/>
              <a:t>produktivit</a:t>
            </a:r>
            <a:r>
              <a:rPr lang="hu-HU" dirty="0"/>
              <a:t>a</a:t>
            </a:r>
            <a:r>
              <a:rPr lang="en-US" dirty="0"/>
              <a:t>s</a:t>
            </a:r>
          </a:p>
          <a:p>
            <a:r>
              <a:rPr lang="en-US" dirty="0" err="1"/>
              <a:t>Komitmen</a:t>
            </a:r>
            <a:r>
              <a:rPr lang="en-US" dirty="0"/>
              <a:t> m</a:t>
            </a:r>
            <a:r>
              <a:rPr lang="hu-HU" dirty="0"/>
              <a:t>a</a:t>
            </a:r>
            <a:r>
              <a:rPr lang="en-US" dirty="0"/>
              <a:t>n</a:t>
            </a:r>
            <a:r>
              <a:rPr lang="hu-HU" dirty="0"/>
              <a:t>a</a:t>
            </a:r>
            <a:r>
              <a:rPr lang="en-US" dirty="0" err="1"/>
              <a:t>jemen</a:t>
            </a:r>
            <a:r>
              <a:rPr lang="en-US"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err="1"/>
              <a:t>Definisi</a:t>
            </a:r>
            <a:r>
              <a:rPr lang="hu-HU" dirty="0">
                <a:effectLst/>
              </a:rPr>
              <a:t> Manajemen Proyek  </a:t>
            </a:r>
            <a:br>
              <a:rPr lang="hu-HU"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effectLst/>
              </a:rPr>
              <a:t>PMBOK</a:t>
            </a:r>
          </a:p>
          <a:p>
            <a:pPr lvl="1"/>
            <a:r>
              <a:rPr lang="en-US" dirty="0"/>
              <a:t>Project m</a:t>
            </a:r>
            <a:r>
              <a:rPr lang="hu-HU" dirty="0"/>
              <a:t>a</a:t>
            </a:r>
            <a:r>
              <a:rPr lang="en-US" dirty="0"/>
              <a:t>n</a:t>
            </a:r>
            <a:r>
              <a:rPr lang="hu-HU" dirty="0"/>
              <a:t>a</a:t>
            </a:r>
            <a:r>
              <a:rPr lang="en-US" dirty="0" err="1"/>
              <a:t>gement</a:t>
            </a:r>
            <a:r>
              <a:rPr lang="en-US" dirty="0"/>
              <a:t> is the </a:t>
            </a:r>
            <a:r>
              <a:rPr lang="hu-HU" dirty="0"/>
              <a:t>a</a:t>
            </a:r>
            <a:r>
              <a:rPr lang="en-US" dirty="0" err="1"/>
              <a:t>pplic</a:t>
            </a:r>
            <a:r>
              <a:rPr lang="hu-HU" dirty="0"/>
              <a:t>a</a:t>
            </a:r>
            <a:r>
              <a:rPr lang="en-US" dirty="0" err="1"/>
              <a:t>tion</a:t>
            </a:r>
            <a:r>
              <a:rPr lang="en-US" dirty="0"/>
              <a:t> of knowledge, skills, tools </a:t>
            </a:r>
            <a:r>
              <a:rPr lang="hu-HU" dirty="0"/>
              <a:t>a</a:t>
            </a:r>
            <a:r>
              <a:rPr lang="en-US" dirty="0" err="1"/>
              <a:t>nd</a:t>
            </a:r>
            <a:r>
              <a:rPr lang="en-US" dirty="0"/>
              <a:t> techniques to project </a:t>
            </a:r>
            <a:r>
              <a:rPr lang="hu-HU" dirty="0"/>
              <a:t>a</a:t>
            </a:r>
            <a:r>
              <a:rPr lang="en-US" dirty="0" err="1"/>
              <a:t>ctivities</a:t>
            </a:r>
            <a:r>
              <a:rPr lang="en-US" dirty="0"/>
              <a:t> to meet project requirements.</a:t>
            </a:r>
          </a:p>
          <a:p>
            <a:r>
              <a:rPr lang="en-US" dirty="0">
                <a:effectLst/>
              </a:rPr>
              <a:t>PRINCE2</a:t>
            </a:r>
          </a:p>
          <a:p>
            <a:pPr lvl="1"/>
            <a:r>
              <a:rPr lang="en-US" dirty="0"/>
              <a:t>The pl</a:t>
            </a:r>
            <a:r>
              <a:rPr lang="hu-HU" dirty="0"/>
              <a:t>a</a:t>
            </a:r>
            <a:r>
              <a:rPr lang="en-US" dirty="0" err="1"/>
              <a:t>nning</a:t>
            </a:r>
            <a:r>
              <a:rPr lang="en-US" dirty="0"/>
              <a:t>, monitoring </a:t>
            </a:r>
            <a:r>
              <a:rPr lang="hu-HU" dirty="0"/>
              <a:t>a</a:t>
            </a:r>
            <a:r>
              <a:rPr lang="en-US" dirty="0" err="1"/>
              <a:t>nd</a:t>
            </a:r>
            <a:r>
              <a:rPr lang="en-US" dirty="0"/>
              <a:t> control of </a:t>
            </a:r>
            <a:r>
              <a:rPr lang="hu-HU" dirty="0"/>
              <a:t>a</a:t>
            </a:r>
            <a:r>
              <a:rPr lang="en-US" dirty="0" err="1"/>
              <a:t>ll</a:t>
            </a:r>
            <a:r>
              <a:rPr lang="en-US" dirty="0"/>
              <a:t> </a:t>
            </a:r>
            <a:r>
              <a:rPr lang="hu-HU" dirty="0"/>
              <a:t>a</a:t>
            </a:r>
            <a:r>
              <a:rPr lang="en-US" dirty="0" err="1"/>
              <a:t>spects</a:t>
            </a:r>
            <a:r>
              <a:rPr lang="en-US" dirty="0"/>
              <a:t> of the project </a:t>
            </a:r>
            <a:r>
              <a:rPr lang="hu-HU" dirty="0"/>
              <a:t>a</a:t>
            </a:r>
            <a:r>
              <a:rPr lang="en-US" dirty="0" err="1"/>
              <a:t>nd</a:t>
            </a:r>
            <a:r>
              <a:rPr lang="en-US" dirty="0"/>
              <a:t> the </a:t>
            </a:r>
            <a:r>
              <a:rPr lang="en-US" dirty="0" err="1"/>
              <a:t>motiv</a:t>
            </a:r>
            <a:r>
              <a:rPr lang="hu-HU" dirty="0"/>
              <a:t>a</a:t>
            </a:r>
            <a:r>
              <a:rPr lang="en-US" dirty="0" err="1"/>
              <a:t>tion</a:t>
            </a:r>
            <a:r>
              <a:rPr lang="en-US" dirty="0"/>
              <a:t> of </a:t>
            </a:r>
            <a:r>
              <a:rPr lang="hu-HU" dirty="0"/>
              <a:t>a</a:t>
            </a:r>
            <a:r>
              <a:rPr lang="en-US" dirty="0" err="1"/>
              <a:t>ll</a:t>
            </a:r>
            <a:r>
              <a:rPr lang="en-US" dirty="0"/>
              <a:t> those involved in it to </a:t>
            </a:r>
            <a:r>
              <a:rPr lang="hu-HU" dirty="0"/>
              <a:t>a</a:t>
            </a:r>
            <a:r>
              <a:rPr lang="en-US" dirty="0" err="1"/>
              <a:t>chieve</a:t>
            </a:r>
            <a:r>
              <a:rPr lang="en-US" dirty="0"/>
              <a:t> the project objectives on time </a:t>
            </a:r>
            <a:r>
              <a:rPr lang="hu-HU" dirty="0"/>
              <a:t>a</a:t>
            </a:r>
            <a:r>
              <a:rPr lang="en-US" dirty="0" err="1"/>
              <a:t>nd</a:t>
            </a:r>
            <a:r>
              <a:rPr lang="en-US" dirty="0"/>
              <a:t> to specified cost, </a:t>
            </a:r>
            <a:r>
              <a:rPr lang="en-US" dirty="0" err="1"/>
              <a:t>qu</a:t>
            </a:r>
            <a:r>
              <a:rPr lang="hu-HU" dirty="0"/>
              <a:t>a</a:t>
            </a:r>
            <a:r>
              <a:rPr lang="en-US" dirty="0" err="1"/>
              <a:t>lity</a:t>
            </a:r>
            <a:r>
              <a:rPr lang="en-US" dirty="0"/>
              <a:t> </a:t>
            </a:r>
            <a:r>
              <a:rPr lang="hu-HU" dirty="0"/>
              <a:t>a</a:t>
            </a:r>
            <a:r>
              <a:rPr lang="en-US" dirty="0" err="1"/>
              <a:t>nd</a:t>
            </a:r>
            <a:r>
              <a:rPr lang="en-US" dirty="0"/>
              <a:t> perform</a:t>
            </a:r>
            <a:r>
              <a:rPr lang="hu-HU" dirty="0"/>
              <a:t>a</a:t>
            </a:r>
            <a:r>
              <a:rPr lang="en-US" dirty="0" err="1"/>
              <a:t>nce</a:t>
            </a:r>
            <a:r>
              <a:rPr lang="en-US" dirty="0"/>
              <a:t>.</a:t>
            </a:r>
          </a:p>
          <a:p>
            <a:r>
              <a:rPr lang="en-US" dirty="0">
                <a:effectLst/>
              </a:rPr>
              <a:t>DIN 6991</a:t>
            </a:r>
          </a:p>
          <a:p>
            <a:pPr lvl="1"/>
            <a:r>
              <a:rPr lang="en-US" dirty="0"/>
              <a:t>Project m</a:t>
            </a:r>
            <a:r>
              <a:rPr lang="hu-HU" dirty="0"/>
              <a:t>a</a:t>
            </a:r>
            <a:r>
              <a:rPr lang="en-US" dirty="0"/>
              <a:t>n</a:t>
            </a:r>
            <a:r>
              <a:rPr lang="hu-HU" dirty="0"/>
              <a:t>a</a:t>
            </a:r>
            <a:r>
              <a:rPr lang="en-US" dirty="0" err="1"/>
              <a:t>gement</a:t>
            </a:r>
            <a:r>
              <a:rPr lang="en-US" dirty="0"/>
              <a:t> is the complete set of t</a:t>
            </a:r>
            <a:r>
              <a:rPr lang="hu-HU" dirty="0"/>
              <a:t>a</a:t>
            </a:r>
            <a:r>
              <a:rPr lang="en-US" dirty="0" err="1"/>
              <a:t>sks</a:t>
            </a:r>
            <a:r>
              <a:rPr lang="en-US" dirty="0"/>
              <a:t>, techniques, tools </a:t>
            </a:r>
            <a:r>
              <a:rPr lang="hu-HU" dirty="0"/>
              <a:t>a</a:t>
            </a:r>
            <a:r>
              <a:rPr lang="en-US" dirty="0" err="1"/>
              <a:t>pplied</a:t>
            </a:r>
            <a:r>
              <a:rPr lang="en-US" dirty="0"/>
              <a:t> during project execution.</a:t>
            </a:r>
            <a:endParaRPr lang="hu-HU" dirty="0">
              <a:effectLst/>
            </a:endParaRPr>
          </a:p>
          <a:p>
            <a:pPr marL="0" indent="0">
              <a:buNone/>
            </a:pPr>
            <a:endParaRPr lang="en-US" dirty="0"/>
          </a:p>
        </p:txBody>
      </p:sp>
    </p:spTree>
    <p:extLst>
      <p:ext uri="{BB962C8B-B14F-4D97-AF65-F5344CB8AC3E}">
        <p14:creationId xmlns:p14="http://schemas.microsoft.com/office/powerpoint/2010/main" val="3311945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 calcmode="lin" valueType="num">
                                      <p:cBhvr additive="base">
                                        <p:cTn id="4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Proses</a:t>
            </a:r>
            <a:r>
              <a:rPr lang="en-US" dirty="0"/>
              <a:t> </a:t>
            </a:r>
            <a:r>
              <a:rPr lang="en-US" dirty="0" err="1"/>
              <a:t>Manajemen</a:t>
            </a:r>
            <a:r>
              <a:rPr lang="en-US" dirty="0"/>
              <a:t> </a:t>
            </a:r>
            <a:r>
              <a:rPr lang="en-US" dirty="0" err="1"/>
              <a:t>Proyek</a:t>
            </a:r>
            <a:endParaRPr lang="en-US" dirty="0"/>
          </a:p>
        </p:txBody>
      </p:sp>
      <p:sp>
        <p:nvSpPr>
          <p:cNvPr id="3" name="Content Placeholder 2"/>
          <p:cNvSpPr>
            <a:spLocks noGrp="1"/>
          </p:cNvSpPr>
          <p:nvPr>
            <p:ph idx="1"/>
          </p:nvPr>
        </p:nvSpPr>
        <p:spPr/>
        <p:txBody>
          <a:bodyPr/>
          <a:lstStyle/>
          <a:p>
            <a:r>
              <a:rPr lang="en-US" dirty="0"/>
              <a:t>Project management is accomplished through the appropriate application and integration of the 47 logically grouped project management processes, which are categorized into five Process Groups.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dirty="0"/>
              <a:t>5 </a:t>
            </a:r>
            <a:r>
              <a:rPr lang="en-US" sz="3800" dirty="0" err="1"/>
              <a:t>Kelompok</a:t>
            </a:r>
            <a:r>
              <a:rPr lang="en-US" sz="3800" dirty="0"/>
              <a:t> </a:t>
            </a:r>
            <a:r>
              <a:rPr lang="en-US" sz="3800" dirty="0" err="1"/>
              <a:t>Proses</a:t>
            </a:r>
            <a:r>
              <a:rPr lang="en-US" sz="3800" dirty="0"/>
              <a:t> </a:t>
            </a:r>
            <a:r>
              <a:rPr lang="en-US" sz="3800" dirty="0" err="1"/>
              <a:t>Manajemen</a:t>
            </a:r>
            <a:r>
              <a:rPr lang="en-US" sz="3800" dirty="0"/>
              <a:t> </a:t>
            </a:r>
            <a:r>
              <a:rPr lang="en-US" sz="3800" dirty="0" err="1"/>
              <a:t>Proyek</a:t>
            </a:r>
            <a:r>
              <a:rPr lang="en-US" sz="3800" dirty="0"/>
              <a:t> </a:t>
            </a:r>
          </a:p>
        </p:txBody>
      </p:sp>
      <p:sp>
        <p:nvSpPr>
          <p:cNvPr id="3" name="Content Placeholder 2"/>
          <p:cNvSpPr>
            <a:spLocks noGrp="1"/>
          </p:cNvSpPr>
          <p:nvPr>
            <p:ph idx="1"/>
          </p:nvPr>
        </p:nvSpPr>
        <p:spPr/>
        <p:txBody>
          <a:bodyPr/>
          <a:lstStyle/>
          <a:p>
            <a:endParaRPr lang="en-US"/>
          </a:p>
        </p:txBody>
      </p:sp>
      <p:pic>
        <p:nvPicPr>
          <p:cNvPr id="4" name="Content Placeholder 4" descr="Screen Shot 2016-03-03 at 22.59.25.png"/>
          <p:cNvPicPr>
            <a:picLocks noChangeAspect="1"/>
          </p:cNvPicPr>
          <p:nvPr/>
        </p:nvPicPr>
        <p:blipFill rotWithShape="1">
          <a:blip r:embed="rId2">
            <a:extLst>
              <a:ext uri="{28A0092B-C50C-407E-A947-70E740481C1C}">
                <a14:useLocalDpi xmlns:a14="http://schemas.microsoft.com/office/drawing/2010/main" val="0"/>
              </a:ext>
            </a:extLst>
          </a:blip>
          <a:stretch/>
        </p:blipFill>
        <p:spPr>
          <a:xfrm>
            <a:off x="787618" y="1775191"/>
            <a:ext cx="7599272" cy="42322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Processes and Procedures for Conducting project</a:t>
            </a:r>
          </a:p>
        </p:txBody>
      </p:sp>
      <p:sp>
        <p:nvSpPr>
          <p:cNvPr id="3" name="Content Placeholder 2"/>
          <p:cNvSpPr>
            <a:spLocks noGrp="1"/>
          </p:cNvSpPr>
          <p:nvPr>
            <p:ph idx="1"/>
          </p:nvPr>
        </p:nvSpPr>
        <p:spPr/>
        <p:txBody>
          <a:bodyPr>
            <a:normAutofit fontScale="92500"/>
          </a:bodyPr>
          <a:lstStyle/>
          <a:p>
            <a:r>
              <a:rPr lang="en-US" i="1" dirty="0"/>
              <a:t>Initiating and Planning:</a:t>
            </a:r>
          </a:p>
          <a:p>
            <a:pPr lvl="1"/>
            <a:r>
              <a:rPr lang="en-US" dirty="0"/>
              <a:t>Guidelines and criteria for tailoring the organization’s set of standard processes and procedures to satisfy the specific needs of the project;</a:t>
            </a:r>
          </a:p>
          <a:p>
            <a:pPr lvl="1"/>
            <a:r>
              <a:rPr lang="en-US" dirty="0"/>
              <a:t>Specific organizational standards such as policies, product and project life cycles, and quality policies and procedures</a:t>
            </a:r>
          </a:p>
          <a:p>
            <a:pPr lvl="1"/>
            <a:r>
              <a:rPr lang="en-US" dirty="0"/>
              <a:t>Templates (e.g., risk register, work breakdown structure, project schedule network diagram, and contract templates).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Processes and Procedures for Conducting project (2)</a:t>
            </a:r>
          </a:p>
        </p:txBody>
      </p:sp>
      <p:sp>
        <p:nvSpPr>
          <p:cNvPr id="3" name="Content Placeholder 2"/>
          <p:cNvSpPr>
            <a:spLocks noGrp="1"/>
          </p:cNvSpPr>
          <p:nvPr>
            <p:ph idx="1"/>
          </p:nvPr>
        </p:nvSpPr>
        <p:spPr/>
        <p:txBody>
          <a:bodyPr>
            <a:normAutofit fontScale="92500" lnSpcReduction="20000"/>
          </a:bodyPr>
          <a:lstStyle/>
          <a:p>
            <a:r>
              <a:rPr lang="en-US" i="1" dirty="0"/>
              <a:t>Executing, Monitoring and Controlling:</a:t>
            </a:r>
          </a:p>
          <a:p>
            <a:pPr lvl="1"/>
            <a:r>
              <a:rPr lang="en-US" dirty="0"/>
              <a:t>Change control procedures</a:t>
            </a:r>
          </a:p>
          <a:p>
            <a:pPr lvl="1"/>
            <a:r>
              <a:rPr lang="en-US" dirty="0"/>
              <a:t>Financial controls procedures </a:t>
            </a:r>
          </a:p>
          <a:p>
            <a:pPr lvl="1"/>
            <a:r>
              <a:rPr lang="en-US" dirty="0"/>
              <a:t>Issue and defect management procedures</a:t>
            </a:r>
          </a:p>
          <a:p>
            <a:pPr lvl="1"/>
            <a:r>
              <a:rPr lang="en-US" dirty="0"/>
              <a:t>Organizational communication requirements</a:t>
            </a:r>
          </a:p>
          <a:p>
            <a:pPr lvl="1"/>
            <a:r>
              <a:rPr lang="en-US" dirty="0"/>
              <a:t>Procedures for prioritizing, approving, and issuing work authorizations</a:t>
            </a:r>
          </a:p>
          <a:p>
            <a:pPr lvl="1"/>
            <a:r>
              <a:rPr lang="en-US" dirty="0"/>
              <a:t>Risk control procedures</a:t>
            </a:r>
          </a:p>
          <a:p>
            <a:pPr lvl="1"/>
            <a:r>
              <a:rPr lang="en-US" dirty="0"/>
              <a:t>Standardized guidelines, work instructions, proposal evaluation criteria, and performance measurement criteria.</a:t>
            </a:r>
          </a:p>
          <a:p>
            <a:pPr lvl="1"/>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Processes and Procedures for Conducting project (3)</a:t>
            </a:r>
          </a:p>
        </p:txBody>
      </p:sp>
      <p:sp>
        <p:nvSpPr>
          <p:cNvPr id="3" name="Content Placeholder 2"/>
          <p:cNvSpPr>
            <a:spLocks noGrp="1"/>
          </p:cNvSpPr>
          <p:nvPr>
            <p:ph idx="1"/>
          </p:nvPr>
        </p:nvSpPr>
        <p:spPr/>
        <p:txBody>
          <a:bodyPr/>
          <a:lstStyle/>
          <a:p>
            <a:r>
              <a:rPr lang="en-US" i="1" dirty="0"/>
              <a:t>Closing</a:t>
            </a:r>
          </a:p>
          <a:p>
            <a:pPr lvl="1"/>
            <a:r>
              <a:rPr lang="en-US" dirty="0"/>
              <a:t>Project closure guidelines or requirements (e.g., lessons learned, final project audits, project evaluations, product validations, and acceptance criteria).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Pengelolaan</a:t>
            </a:r>
            <a:r>
              <a:rPr lang="en-US" dirty="0"/>
              <a:t> </a:t>
            </a:r>
            <a:r>
              <a:rPr lang="en-US" dirty="0" err="1"/>
              <a:t>Proyek</a:t>
            </a:r>
            <a:endParaRPr lang="en-US" dirty="0"/>
          </a:p>
        </p:txBody>
      </p:sp>
      <p:sp>
        <p:nvSpPr>
          <p:cNvPr id="3" name="Content Placeholder 2"/>
          <p:cNvSpPr>
            <a:spLocks noGrp="1"/>
          </p:cNvSpPr>
          <p:nvPr>
            <p:ph idx="1"/>
          </p:nvPr>
        </p:nvSpPr>
        <p:spPr/>
        <p:txBody>
          <a:bodyPr>
            <a:normAutofit fontScale="70000" lnSpcReduction="20000"/>
          </a:bodyPr>
          <a:lstStyle/>
          <a:p>
            <a:r>
              <a:rPr lang="en-US" dirty="0"/>
              <a:t>Identifying requirements;</a:t>
            </a:r>
          </a:p>
          <a:p>
            <a:r>
              <a:rPr lang="en-US" dirty="0"/>
              <a:t>Addressing the various needs, concerns, and expectations of the stakeholders in planning and executing the project;</a:t>
            </a:r>
          </a:p>
          <a:p>
            <a:r>
              <a:rPr lang="en-US" dirty="0"/>
              <a:t>Setting up, maintaining, and carrying out communications among stakeholders that are active, effective, and collaborative in nature;</a:t>
            </a:r>
          </a:p>
          <a:p>
            <a:r>
              <a:rPr lang="en-US" dirty="0"/>
              <a:t>Managing stakeholders towards meeting project requirements and creating project deliverables;</a:t>
            </a:r>
          </a:p>
          <a:p>
            <a:r>
              <a:rPr lang="en-US" dirty="0"/>
              <a:t>Balancing the competing project constraints</a:t>
            </a:r>
          </a:p>
          <a:p>
            <a:pPr lvl="1"/>
            <a:r>
              <a:rPr lang="en-US" dirty="0"/>
              <a:t>Scope,</a:t>
            </a:r>
          </a:p>
          <a:p>
            <a:pPr lvl="1"/>
            <a:r>
              <a:rPr lang="en-US" dirty="0"/>
              <a:t>Quality,</a:t>
            </a:r>
          </a:p>
          <a:p>
            <a:pPr lvl="1"/>
            <a:r>
              <a:rPr lang="en-US" dirty="0"/>
              <a:t>Schedule,</a:t>
            </a:r>
          </a:p>
          <a:p>
            <a:pPr lvl="1"/>
            <a:r>
              <a:rPr lang="en-US" dirty="0"/>
              <a:t>Budget,</a:t>
            </a:r>
          </a:p>
          <a:p>
            <a:pPr lvl="1"/>
            <a:r>
              <a:rPr lang="en-US" dirty="0"/>
              <a:t>Resources, and</a:t>
            </a:r>
          </a:p>
          <a:p>
            <a:pPr lvl="1"/>
            <a:r>
              <a:rPr lang="en-US" dirty="0"/>
              <a:t>Risks.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err="1"/>
              <a:t>Segitig</a:t>
            </a:r>
            <a:r>
              <a:rPr lang="hu-HU" dirty="0"/>
              <a:t>a </a:t>
            </a:r>
            <a:r>
              <a:rPr lang="hu-HU" dirty="0">
                <a:effectLst/>
              </a:rPr>
              <a:t>Manajemen Proyek </a:t>
            </a:r>
            <a:br>
              <a:rPr lang="hu-HU" dirty="0"/>
            </a:br>
            <a:endParaRPr lang="en-US" dirty="0"/>
          </a:p>
        </p:txBody>
      </p:sp>
      <p:sp>
        <p:nvSpPr>
          <p:cNvPr id="5" name="Content Placeholder 4"/>
          <p:cNvSpPr>
            <a:spLocks noGrp="1"/>
          </p:cNvSpPr>
          <p:nvPr>
            <p:ph idx="1"/>
          </p:nvPr>
        </p:nvSpPr>
        <p:spPr/>
        <p:txBody>
          <a:bodyPr/>
          <a:lstStyle/>
          <a:p>
            <a:endParaRPr lang="en-US"/>
          </a:p>
        </p:txBody>
      </p:sp>
      <p:pic>
        <p:nvPicPr>
          <p:cNvPr id="32772" name="Picture 4" descr="Related image"/>
          <p:cNvPicPr>
            <a:picLocks noChangeAspect="1" noChangeArrowheads="1"/>
          </p:cNvPicPr>
          <p:nvPr/>
        </p:nvPicPr>
        <p:blipFill>
          <a:blip r:embed="rId2"/>
          <a:srcRect/>
          <a:stretch>
            <a:fillRect/>
          </a:stretch>
        </p:blipFill>
        <p:spPr bwMode="auto">
          <a:xfrm>
            <a:off x="2025319" y="1775191"/>
            <a:ext cx="5114074" cy="4625609"/>
          </a:xfrm>
          <a:prstGeom prst="rect">
            <a:avLst/>
          </a:prstGeom>
          <a:noFill/>
        </p:spPr>
      </p:pic>
    </p:spTree>
    <p:extLst>
      <p:ext uri="{BB962C8B-B14F-4D97-AF65-F5344CB8AC3E}">
        <p14:creationId xmlns:p14="http://schemas.microsoft.com/office/powerpoint/2010/main" val="1419948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9808" y="2840221"/>
            <a:ext cx="8013192" cy="1636776"/>
          </a:xfrm>
        </p:spPr>
        <p:txBody>
          <a:bodyPr/>
          <a:lstStyle/>
          <a:p>
            <a:r>
              <a:rPr lang="en-US" dirty="0"/>
              <a:t>PENGARUH ORGANISASI PADA MANAJEMEN PROYEK</a:t>
            </a:r>
          </a:p>
        </p:txBody>
      </p:sp>
      <p:sp>
        <p:nvSpPr>
          <p:cNvPr id="3" name="Text Placeholder 2"/>
          <p:cNvSpPr>
            <a:spLocks noGrp="1"/>
          </p:cNvSpPr>
          <p:nvPr>
            <p:ph type="body" idx="1"/>
          </p:nvPr>
        </p:nvSpPr>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Organizational Cultures and Styles</a:t>
            </a:r>
          </a:p>
        </p:txBody>
      </p:sp>
      <p:sp>
        <p:nvSpPr>
          <p:cNvPr id="3" name="Content Placeholder 2"/>
          <p:cNvSpPr>
            <a:spLocks noGrp="1"/>
          </p:cNvSpPr>
          <p:nvPr>
            <p:ph idx="1"/>
          </p:nvPr>
        </p:nvSpPr>
        <p:spPr/>
        <p:txBody>
          <a:bodyPr>
            <a:normAutofit fontScale="85000" lnSpcReduction="20000"/>
          </a:bodyPr>
          <a:lstStyle/>
          <a:p>
            <a:r>
              <a:rPr lang="en-US" dirty="0"/>
              <a:t>Organizations are systematic arrangements of entities (persons and/or departments) aimed at accomplishing a purpose, which may involve undertaking projects. </a:t>
            </a:r>
          </a:p>
          <a:p>
            <a:r>
              <a:rPr lang="en-US" dirty="0"/>
              <a:t>An organization’s culture and style affect how it conducts projects.</a:t>
            </a:r>
          </a:p>
          <a:p>
            <a:r>
              <a:rPr lang="en-US" dirty="0"/>
              <a:t>Cultures and styles are group phenomena known as cultural norms, which develop over time. </a:t>
            </a:r>
          </a:p>
          <a:p>
            <a:r>
              <a:rPr lang="en-US" dirty="0"/>
              <a:t>The norms include established approaches to initiating and planning projects, the means considered acceptable for getting the work done, and recognized authorities who make or influence decisions.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Organizational Communications</a:t>
            </a:r>
          </a:p>
        </p:txBody>
      </p:sp>
      <p:sp>
        <p:nvSpPr>
          <p:cNvPr id="3" name="Content Placeholder 2"/>
          <p:cNvSpPr>
            <a:spLocks noGrp="1"/>
          </p:cNvSpPr>
          <p:nvPr>
            <p:ph idx="1"/>
          </p:nvPr>
        </p:nvSpPr>
        <p:spPr/>
        <p:txBody>
          <a:bodyPr>
            <a:normAutofit fontScale="85000" lnSpcReduction="10000"/>
          </a:bodyPr>
          <a:lstStyle/>
          <a:p>
            <a:r>
              <a:rPr lang="en-US" dirty="0"/>
              <a:t>Project management success in an organization is highly dependent on an effective organizational communication Style.</a:t>
            </a:r>
          </a:p>
          <a:p>
            <a:r>
              <a:rPr lang="en-US" dirty="0"/>
              <a:t>Organizational communications capabilities have great influence on how projects are conducted</a:t>
            </a:r>
          </a:p>
          <a:p>
            <a:r>
              <a:rPr lang="en-US" dirty="0"/>
              <a:t>Project managers in distant locations are able to more effectively communicate with all relevant stakeholders within the organizational structure to facilitate decision making. </a:t>
            </a:r>
          </a:p>
          <a:p>
            <a:r>
              <a:rPr lang="en-US" dirty="0"/>
              <a:t>Stakeholders and project team members can also use electronic communications to communicate with the project manager formally or informally.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Influence of Organizational Structures on Projects</a:t>
            </a:r>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srcRect/>
          <a:stretch>
            <a:fillRect/>
          </a:stretch>
        </p:blipFill>
        <p:spPr bwMode="auto">
          <a:xfrm>
            <a:off x="457200" y="1775191"/>
            <a:ext cx="8401348" cy="426935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Organization</a:t>
            </a:r>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srcRect/>
          <a:stretch>
            <a:fillRect/>
          </a:stretch>
        </p:blipFill>
        <p:spPr bwMode="auto">
          <a:xfrm>
            <a:off x="1085850" y="1775191"/>
            <a:ext cx="6972300" cy="3705225"/>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Weak Matrix Organization</a:t>
            </a:r>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a:srcRect/>
          <a:stretch>
            <a:fillRect/>
          </a:stretch>
        </p:blipFill>
        <p:spPr bwMode="auto">
          <a:xfrm>
            <a:off x="1149742" y="1775191"/>
            <a:ext cx="7153275" cy="403860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Balanced Matrix Organization</a:t>
            </a:r>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srcRect/>
          <a:stretch>
            <a:fillRect/>
          </a:stretch>
        </p:blipFill>
        <p:spPr bwMode="auto">
          <a:xfrm>
            <a:off x="677135" y="1775191"/>
            <a:ext cx="8009665" cy="4625609"/>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Strong Matrix Organization</a:t>
            </a:r>
          </a:p>
        </p:txBody>
      </p:sp>
      <p:sp>
        <p:nvSpPr>
          <p:cNvPr id="3" name="Content Placeholder 2"/>
          <p:cNvSpPr>
            <a:spLocks noGrp="1"/>
          </p:cNvSpPr>
          <p:nvPr>
            <p:ph idx="1"/>
          </p:nvPr>
        </p:nvSpPr>
        <p:spPr/>
        <p:txBody>
          <a:bodyPr/>
          <a:lstStyle/>
          <a:p>
            <a:endParaRPr lang="en-US"/>
          </a:p>
        </p:txBody>
      </p:sp>
      <p:pic>
        <p:nvPicPr>
          <p:cNvPr id="6146" name="Picture 2"/>
          <p:cNvPicPr>
            <a:picLocks noChangeAspect="1" noChangeArrowheads="1"/>
          </p:cNvPicPr>
          <p:nvPr/>
        </p:nvPicPr>
        <p:blipFill>
          <a:blip r:embed="rId2"/>
          <a:srcRect/>
          <a:stretch>
            <a:fillRect/>
          </a:stretch>
        </p:blipFill>
        <p:spPr bwMode="auto">
          <a:xfrm>
            <a:off x="1109663" y="1775191"/>
            <a:ext cx="6924675" cy="400050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Projectized</a:t>
            </a:r>
            <a:r>
              <a:rPr lang="en-US" dirty="0"/>
              <a:t> Organization</a:t>
            </a:r>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a:srcRect/>
          <a:stretch>
            <a:fillRect/>
          </a:stretch>
        </p:blipFill>
        <p:spPr bwMode="auto">
          <a:xfrm>
            <a:off x="1104900" y="2178952"/>
            <a:ext cx="6934200" cy="3933825"/>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Composite Organization</a:t>
            </a:r>
          </a:p>
        </p:txBody>
      </p:sp>
      <p:sp>
        <p:nvSpPr>
          <p:cNvPr id="3" name="Content Placeholder 2"/>
          <p:cNvSpPr>
            <a:spLocks noGrp="1"/>
          </p:cNvSpPr>
          <p:nvPr>
            <p:ph idx="1"/>
          </p:nvPr>
        </p:nvSpPr>
        <p:spPr/>
        <p:txBody>
          <a:bodyPr/>
          <a:lstStyle/>
          <a:p>
            <a:endParaRPr lang="en-US"/>
          </a:p>
        </p:txBody>
      </p:sp>
      <p:pic>
        <p:nvPicPr>
          <p:cNvPr id="8194" name="Picture 2"/>
          <p:cNvPicPr>
            <a:picLocks noChangeAspect="1" noChangeArrowheads="1"/>
          </p:cNvPicPr>
          <p:nvPr/>
        </p:nvPicPr>
        <p:blipFill>
          <a:blip r:embed="rId2"/>
          <a:srcRect/>
          <a:stretch>
            <a:fillRect/>
          </a:stretch>
        </p:blipFill>
        <p:spPr bwMode="auto">
          <a:xfrm>
            <a:off x="1042988" y="1775191"/>
            <a:ext cx="7058025" cy="4391025"/>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Stakeholders</a:t>
            </a:r>
          </a:p>
        </p:txBody>
      </p:sp>
      <p:sp>
        <p:nvSpPr>
          <p:cNvPr id="3" name="Content Placeholder 2"/>
          <p:cNvSpPr>
            <a:spLocks noGrp="1"/>
          </p:cNvSpPr>
          <p:nvPr>
            <p:ph idx="1"/>
          </p:nvPr>
        </p:nvSpPr>
        <p:spPr/>
        <p:txBody>
          <a:bodyPr/>
          <a:lstStyle/>
          <a:p>
            <a:endParaRPr lang="en-US"/>
          </a:p>
        </p:txBody>
      </p:sp>
      <p:pic>
        <p:nvPicPr>
          <p:cNvPr id="9218" name="Picture 2"/>
          <p:cNvPicPr>
            <a:picLocks noChangeAspect="1" noChangeArrowheads="1"/>
          </p:cNvPicPr>
          <p:nvPr/>
        </p:nvPicPr>
        <p:blipFill>
          <a:blip r:embed="rId2"/>
          <a:srcRect/>
          <a:stretch>
            <a:fillRect/>
          </a:stretch>
        </p:blipFill>
        <p:spPr bwMode="auto">
          <a:xfrm>
            <a:off x="916844" y="1775191"/>
            <a:ext cx="7332487" cy="4168548"/>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Team</a:t>
            </a:r>
          </a:p>
        </p:txBody>
      </p:sp>
      <p:sp>
        <p:nvSpPr>
          <p:cNvPr id="3" name="Content Placeholder 2"/>
          <p:cNvSpPr>
            <a:spLocks noGrp="1"/>
          </p:cNvSpPr>
          <p:nvPr>
            <p:ph idx="1"/>
          </p:nvPr>
        </p:nvSpPr>
        <p:spPr/>
        <p:txBody>
          <a:bodyPr/>
          <a:lstStyle/>
          <a:p>
            <a:r>
              <a:rPr lang="en-US" b="1" dirty="0"/>
              <a:t>Project Manager</a:t>
            </a:r>
          </a:p>
          <a:p>
            <a:r>
              <a:rPr lang="en-US" b="1" dirty="0"/>
              <a:t>Project management staff</a:t>
            </a:r>
          </a:p>
          <a:p>
            <a:r>
              <a:rPr lang="en-US" b="1" dirty="0"/>
              <a:t>Project staff</a:t>
            </a:r>
          </a:p>
          <a:p>
            <a:r>
              <a:rPr lang="en-US" b="1" dirty="0"/>
              <a:t>Supporting experts</a:t>
            </a:r>
          </a:p>
          <a:p>
            <a:r>
              <a:rPr lang="en-US" b="1" dirty="0"/>
              <a:t>User or Customer Representatives</a:t>
            </a:r>
          </a:p>
          <a:p>
            <a:r>
              <a:rPr lang="en-US" b="1" dirty="0"/>
              <a:t>Sellers</a:t>
            </a:r>
          </a:p>
          <a:p>
            <a:r>
              <a:rPr lang="en-US" b="1" dirty="0"/>
              <a:t>Business partner members</a:t>
            </a:r>
          </a:p>
          <a:p>
            <a:r>
              <a:rPr lang="en-US" b="1" dirty="0"/>
              <a:t>Business partners</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590800"/>
            <a:ext cx="8229600" cy="1399032"/>
          </a:xfrm>
        </p:spPr>
        <p:txBody>
          <a:bodyPr/>
          <a:lstStyle/>
          <a:p>
            <a:r>
              <a:rPr lang="en-US" dirty="0"/>
              <a:t>A life of Project Manager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Successful Project Manager</a:t>
            </a:r>
          </a:p>
        </p:txBody>
      </p:sp>
      <p:sp>
        <p:nvSpPr>
          <p:cNvPr id="3" name="Content Placeholder 2"/>
          <p:cNvSpPr>
            <a:spLocks noGrp="1"/>
          </p:cNvSpPr>
          <p:nvPr>
            <p:ph idx="1"/>
          </p:nvPr>
        </p:nvSpPr>
        <p:spPr/>
        <p:txBody>
          <a:bodyPr/>
          <a:lstStyle/>
          <a:p>
            <a:r>
              <a:rPr lang="en-US" dirty="0"/>
              <a:t>Are skilled at planning, monitoring, and controlling all aspects of a project and motivating all those involved to achieve the project objectives on time and on budge t, within quality and performance specifications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Successful Project Manager</a:t>
            </a:r>
          </a:p>
        </p:txBody>
      </p:sp>
      <p:sp>
        <p:nvSpPr>
          <p:cNvPr id="3" name="Content Placeholder 2"/>
          <p:cNvSpPr>
            <a:spLocks noGrp="1"/>
          </p:cNvSpPr>
          <p:nvPr>
            <p:ph idx="1"/>
          </p:nvPr>
        </p:nvSpPr>
        <p:spPr/>
        <p:txBody>
          <a:bodyPr/>
          <a:lstStyle/>
          <a:p>
            <a:r>
              <a:rPr lang="en-US" dirty="0"/>
              <a:t>Leadership</a:t>
            </a:r>
          </a:p>
          <a:p>
            <a:r>
              <a:rPr lang="en-US" dirty="0"/>
              <a:t>Organization</a:t>
            </a:r>
          </a:p>
          <a:p>
            <a:r>
              <a:rPr lang="en-US" dirty="0"/>
              <a:t>Communication</a:t>
            </a:r>
          </a:p>
          <a:p>
            <a:r>
              <a:rPr lang="en-US" dirty="0"/>
              <a:t>Finance</a:t>
            </a:r>
          </a:p>
          <a:p>
            <a:r>
              <a:rPr lang="en-US" dirty="0"/>
              <a:t>Technical savvy </a:t>
            </a:r>
          </a:p>
          <a:p>
            <a:r>
              <a:rPr lang="en-US" dirty="0"/>
              <a:t>Politicking</a:t>
            </a:r>
          </a:p>
          <a:p>
            <a:r>
              <a:rPr lang="en-US" dirty="0"/>
              <a:t>Team Building</a:t>
            </a:r>
          </a:p>
          <a:p>
            <a:r>
              <a:rPr lang="en-US" dirty="0"/>
              <a:t>Praising/Coaching</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C89C9-1A63-4FE1-83C0-8EF7C16B7884}"/>
              </a:ext>
            </a:extLst>
          </p:cNvPr>
          <p:cNvSpPr>
            <a:spLocks noGrp="1"/>
          </p:cNvSpPr>
          <p:nvPr>
            <p:ph type="title"/>
          </p:nvPr>
        </p:nvSpPr>
        <p:spPr/>
        <p:txBody>
          <a:bodyPr/>
          <a:lstStyle/>
          <a:p>
            <a:r>
              <a:rPr lang="en-US" dirty="0"/>
              <a:t>IT Project Manager</a:t>
            </a:r>
            <a:endParaRPr lang="en-ID" dirty="0"/>
          </a:p>
        </p:txBody>
      </p:sp>
      <p:sp>
        <p:nvSpPr>
          <p:cNvPr id="3" name="Content Placeholder 2">
            <a:extLst>
              <a:ext uri="{FF2B5EF4-FFF2-40B4-BE49-F238E27FC236}">
                <a16:creationId xmlns:a16="http://schemas.microsoft.com/office/drawing/2014/main" id="{25DA728D-3490-4EEE-A90A-D4AB2113F4D7}"/>
              </a:ext>
            </a:extLst>
          </p:cNvPr>
          <p:cNvSpPr>
            <a:spLocks noGrp="1"/>
          </p:cNvSpPr>
          <p:nvPr>
            <p:ph idx="1"/>
          </p:nvPr>
        </p:nvSpPr>
        <p:spPr/>
        <p:txBody>
          <a:bodyPr>
            <a:normAutofit fontScale="85000" lnSpcReduction="10000"/>
          </a:bodyPr>
          <a:lstStyle/>
          <a:p>
            <a:r>
              <a:rPr lang="en-US" dirty="0"/>
              <a:t>IT project managers are responsible for planning, organizing, allocating resources for, budgeting, and successfully executing organizations’ specific IT goals. Such projects might include:</a:t>
            </a:r>
          </a:p>
          <a:p>
            <a:pPr lvl="1"/>
            <a:r>
              <a:rPr lang="en-US" dirty="0"/>
              <a:t>Software and app development</a:t>
            </a:r>
          </a:p>
          <a:p>
            <a:pPr lvl="1"/>
            <a:r>
              <a:rPr lang="en-US" dirty="0"/>
              <a:t>Hardware installations</a:t>
            </a:r>
          </a:p>
          <a:p>
            <a:pPr lvl="1"/>
            <a:r>
              <a:rPr lang="en-US" dirty="0"/>
              <a:t>Network upgrades</a:t>
            </a:r>
          </a:p>
          <a:p>
            <a:pPr lvl="1"/>
            <a:r>
              <a:rPr lang="en-US" dirty="0"/>
              <a:t>Cloud computing and virtualization rollouts</a:t>
            </a:r>
          </a:p>
          <a:p>
            <a:pPr lvl="1"/>
            <a:r>
              <a:rPr lang="en-US" dirty="0"/>
              <a:t>Projects around business analytics and data management</a:t>
            </a:r>
          </a:p>
          <a:p>
            <a:pPr lvl="1"/>
            <a:r>
              <a:rPr lang="en-US" dirty="0"/>
              <a:t>Miscellaneous IT services</a:t>
            </a:r>
          </a:p>
          <a:p>
            <a:endParaRPr lang="en-ID" dirty="0"/>
          </a:p>
        </p:txBody>
      </p:sp>
    </p:spTree>
    <p:extLst>
      <p:ext uri="{BB962C8B-B14F-4D97-AF65-F5344CB8AC3E}">
        <p14:creationId xmlns:p14="http://schemas.microsoft.com/office/powerpoint/2010/main" val="33504066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7318C-CA97-4A32-B352-5A12F1B9CBC7}"/>
              </a:ext>
            </a:extLst>
          </p:cNvPr>
          <p:cNvSpPr>
            <a:spLocks noGrp="1"/>
          </p:cNvSpPr>
          <p:nvPr>
            <p:ph type="title"/>
          </p:nvPr>
        </p:nvSpPr>
        <p:spPr/>
        <p:txBody>
          <a:bodyPr/>
          <a:lstStyle/>
          <a:p>
            <a:r>
              <a:rPr lang="en-US" dirty="0"/>
              <a:t>IT Project Manager Challenges</a:t>
            </a:r>
            <a:endParaRPr lang="en-ID" dirty="0"/>
          </a:p>
        </p:txBody>
      </p:sp>
      <p:sp>
        <p:nvSpPr>
          <p:cNvPr id="3" name="Content Placeholder 2">
            <a:extLst>
              <a:ext uri="{FF2B5EF4-FFF2-40B4-BE49-F238E27FC236}">
                <a16:creationId xmlns:a16="http://schemas.microsoft.com/office/drawing/2014/main" id="{4DA60390-0462-44A1-BCD0-45C623BE7BC0}"/>
              </a:ext>
            </a:extLst>
          </p:cNvPr>
          <p:cNvSpPr>
            <a:spLocks noGrp="1"/>
          </p:cNvSpPr>
          <p:nvPr>
            <p:ph idx="1"/>
          </p:nvPr>
        </p:nvSpPr>
        <p:spPr/>
        <p:txBody>
          <a:bodyPr/>
          <a:lstStyle/>
          <a:p>
            <a:r>
              <a:rPr lang="en-US" dirty="0"/>
              <a:t>Changing or unclear client priorities </a:t>
            </a:r>
          </a:p>
          <a:p>
            <a:r>
              <a:rPr lang="en-US" dirty="0"/>
              <a:t>Unforeseen relationships among hardware, software, networks, and data </a:t>
            </a:r>
          </a:p>
          <a:p>
            <a:r>
              <a:rPr lang="en-US" dirty="0"/>
              <a:t>Technological updates and advancements that occur in the middle of the project</a:t>
            </a:r>
          </a:p>
          <a:p>
            <a:r>
              <a:rPr lang="en-US" dirty="0"/>
              <a:t>Infrastructure changes that impact data security and management </a:t>
            </a:r>
          </a:p>
          <a:p>
            <a:endParaRPr lang="en-ID" dirty="0"/>
          </a:p>
        </p:txBody>
      </p:sp>
    </p:spTree>
    <p:extLst>
      <p:ext uri="{BB962C8B-B14F-4D97-AF65-F5344CB8AC3E}">
        <p14:creationId xmlns:p14="http://schemas.microsoft.com/office/powerpoint/2010/main" val="594426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Life Cycle</a:t>
            </a:r>
          </a:p>
        </p:txBody>
      </p:sp>
      <p:sp>
        <p:nvSpPr>
          <p:cNvPr id="3" name="Content Placeholder 2"/>
          <p:cNvSpPr>
            <a:spLocks noGrp="1"/>
          </p:cNvSpPr>
          <p:nvPr>
            <p:ph idx="1"/>
          </p:nvPr>
        </p:nvSpPr>
        <p:spPr/>
        <p:txBody>
          <a:bodyPr>
            <a:normAutofit fontScale="85000" lnSpcReduction="10000"/>
          </a:bodyPr>
          <a:lstStyle/>
          <a:p>
            <a:r>
              <a:rPr lang="en-US" dirty="0"/>
              <a:t>A project life cycle is the series of phases that a project passes through from its initiation to its closure. </a:t>
            </a:r>
          </a:p>
          <a:p>
            <a:r>
              <a:rPr lang="en-US" dirty="0"/>
              <a:t>The phases are generally sequential, and their names and numbers are determined by the management and control needs of the organization or organizations involved in the project, the nature of the project itself, and its area of application. </a:t>
            </a:r>
          </a:p>
          <a:p>
            <a:r>
              <a:rPr lang="en-US" dirty="0"/>
              <a:t>The phases can be broken down by functional or partial objectives, intermediate results or deliverables, specific milestones within the overall scope of work, or financial availability.</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Generic Project Life Cycle Structure</a:t>
            </a:r>
          </a:p>
        </p:txBody>
      </p:sp>
      <p:sp>
        <p:nvSpPr>
          <p:cNvPr id="3" name="Content Placeholder 2"/>
          <p:cNvSpPr>
            <a:spLocks noGrp="1"/>
          </p:cNvSpPr>
          <p:nvPr>
            <p:ph idx="1"/>
          </p:nvPr>
        </p:nvSpPr>
        <p:spPr/>
        <p:txBody>
          <a:bodyPr/>
          <a:lstStyle/>
          <a:p>
            <a:endParaRPr lang="en-US"/>
          </a:p>
        </p:txBody>
      </p:sp>
      <p:pic>
        <p:nvPicPr>
          <p:cNvPr id="10242" name="Picture 2"/>
          <p:cNvPicPr>
            <a:picLocks noChangeAspect="1" noChangeArrowheads="1"/>
          </p:cNvPicPr>
          <p:nvPr/>
        </p:nvPicPr>
        <p:blipFill>
          <a:blip r:embed="rId2"/>
          <a:srcRect/>
          <a:stretch>
            <a:fillRect/>
          </a:stretch>
        </p:blipFill>
        <p:spPr bwMode="auto">
          <a:xfrm>
            <a:off x="1028700" y="1775191"/>
            <a:ext cx="7086600" cy="4029075"/>
          </a:xfrm>
          <a:prstGeom prst="rect">
            <a:avLst/>
          </a:prstGeom>
          <a:noFill/>
          <a:ln w="9525">
            <a:noFill/>
            <a:miter lim="800000"/>
            <a:headEnd/>
            <a:tailEnd/>
          </a:ln>
          <a:effec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Module</Template>
  <TotalTime>1183</TotalTime>
  <Words>1339</Words>
  <Application>Microsoft Office PowerPoint</Application>
  <PresentationFormat>On-screen Show (4:3)</PresentationFormat>
  <Paragraphs>152</Paragraphs>
  <Slides>39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Corbel</vt:lpstr>
      <vt:lpstr>Wingdings</vt:lpstr>
      <vt:lpstr>Wingdings 2</vt:lpstr>
      <vt:lpstr>Wingdings 3</vt:lpstr>
      <vt:lpstr>Module</vt:lpstr>
      <vt:lpstr>Definisi dan Siklus Manajemen Proyek</vt:lpstr>
      <vt:lpstr>Project Management Tree Swing Analogy </vt:lpstr>
      <vt:lpstr>Apa itu Manajemen?</vt:lpstr>
      <vt:lpstr>Manajemen Sebagai Seni</vt:lpstr>
      <vt:lpstr>Fungsi Manajemen</vt:lpstr>
      <vt:lpstr>Definisi Manajemen</vt:lpstr>
      <vt:lpstr> Definisi Proyek </vt:lpstr>
      <vt:lpstr>Project Results</vt:lpstr>
      <vt:lpstr>Portfolio, Program, and Project Management Interactions</vt:lpstr>
      <vt:lpstr>Life Cycle IT Project</vt:lpstr>
      <vt:lpstr>Penyebab Timbulnya Proyek</vt:lpstr>
      <vt:lpstr>Faktor Keberhasilan Proyek</vt:lpstr>
      <vt:lpstr> Definisi Manajemen Proyek   </vt:lpstr>
      <vt:lpstr>Proses Manajemen Proyek</vt:lpstr>
      <vt:lpstr>5 Kelompok Proses Manajemen Proyek </vt:lpstr>
      <vt:lpstr>Processes and Procedures for Conducting project</vt:lpstr>
      <vt:lpstr>Processes and Procedures for Conducting project (2)</vt:lpstr>
      <vt:lpstr>Processes and Procedures for Conducting project (3)</vt:lpstr>
      <vt:lpstr>Pengelolaan Proyek</vt:lpstr>
      <vt:lpstr> Segitiga Manajemen Proyek  </vt:lpstr>
      <vt:lpstr>PENGARUH ORGANISASI PADA MANAJEMEN PROYEK</vt:lpstr>
      <vt:lpstr>Organizational Cultures and Styles</vt:lpstr>
      <vt:lpstr>Organizational Communications</vt:lpstr>
      <vt:lpstr>Influence of Organizational Structures on Projects</vt:lpstr>
      <vt:lpstr>Functional Organization</vt:lpstr>
      <vt:lpstr>Weak Matrix Organization</vt:lpstr>
      <vt:lpstr>Balanced Matrix Organization</vt:lpstr>
      <vt:lpstr>Strong Matrix Organization</vt:lpstr>
      <vt:lpstr>Projectized Organization</vt:lpstr>
      <vt:lpstr>Composite Organization</vt:lpstr>
      <vt:lpstr>Project Stakeholders</vt:lpstr>
      <vt:lpstr>Project Team</vt:lpstr>
      <vt:lpstr>A life of Project Manager</vt:lpstr>
      <vt:lpstr>Successful Project Manager</vt:lpstr>
      <vt:lpstr>Successful Project Manager</vt:lpstr>
      <vt:lpstr>IT Project Manager</vt:lpstr>
      <vt:lpstr>IT Project Manager Challenges</vt:lpstr>
      <vt:lpstr>Project Life Cycle</vt:lpstr>
      <vt:lpstr>Generic Project Life Cycle Structure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KONTRAK DAN ATURAN PERKULIAHAN</dc:title>
  <dc:creator>Rere</dc:creator>
  <cp:lastModifiedBy>User</cp:lastModifiedBy>
  <cp:revision>35</cp:revision>
  <dcterms:created xsi:type="dcterms:W3CDTF">2016-03-03T14:48:14Z</dcterms:created>
  <dcterms:modified xsi:type="dcterms:W3CDTF">2022-08-30T06:46:37Z</dcterms:modified>
</cp:coreProperties>
</file>